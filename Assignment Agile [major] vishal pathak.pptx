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1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83935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375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118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55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322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74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525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883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357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3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55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921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540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542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112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947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2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0C0C8D-7213-4BA1-A8CA-E0A9CA6A9BB0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C2F530-D518-47E6-B6F5-A8B3A2185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22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5212" y="3984171"/>
            <a:ext cx="7759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rial Black" panose="020B0A04020102020204" pitchFamily="34" charset="0"/>
              </a:rPr>
              <a:t>VISHAL PATHAK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511" y="230641"/>
            <a:ext cx="1563369" cy="19900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5212" y="5107577"/>
            <a:ext cx="4153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Black" panose="020B0A04020102020204" pitchFamily="34" charset="0"/>
              </a:rPr>
              <a:t>BATCH 6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351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57300" y="1884363"/>
            <a:ext cx="7886700" cy="3262312"/>
          </a:xfrm>
        </p:spPr>
        <p:txBody>
          <a:bodyPr>
            <a:normAutofit/>
          </a:bodyPr>
          <a:lstStyle/>
          <a:p>
            <a:r>
              <a:rPr lang="en-US" sz="4050" dirty="0">
                <a:solidFill>
                  <a:schemeClr val="accent1">
                    <a:lumMod val="50000"/>
                  </a:schemeClr>
                </a:solidFill>
              </a:rPr>
              <a:t>Scrum framework for a hypothetical project of developing a task management software. We'll consider a 2-week sprint duration</a:t>
            </a:r>
            <a:endParaRPr lang="en-IN" sz="405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68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Scrum Roles: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Scrum Master: Emily</a:t>
            </a:r>
          </a:p>
          <a:p>
            <a:r>
              <a:rPr lang="en-US" dirty="0"/>
              <a:t>Product Owner: Alex</a:t>
            </a:r>
          </a:p>
          <a:p>
            <a:r>
              <a:rPr lang="en-US" dirty="0"/>
              <a:t>Development Team: Sarah, John, and Michael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13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Scrum Activities and Time Durations: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Sprint Planning (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Timebox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4 hours for a 2-week sprint):</a:t>
            </a:r>
          </a:p>
          <a:p>
            <a:r>
              <a:rPr lang="en-US" dirty="0"/>
              <a:t>Product Owner Alex and the Development Team (Sarah, John, and Michael) come together for the Sprint Planning meeting.</a:t>
            </a:r>
          </a:p>
          <a:p>
            <a:r>
              <a:rPr lang="en-US" dirty="0"/>
              <a:t>Alex presents the highest-priority items from the product backlog, such as task creation, task assignment, and task status update features.</a:t>
            </a:r>
          </a:p>
          <a:p>
            <a:r>
              <a:rPr lang="en-US" dirty="0"/>
              <a:t>The Development Team discusses the items with Alex, asks clarifying questions, and estimates the effort required for each item.</a:t>
            </a:r>
          </a:p>
          <a:p>
            <a:r>
              <a:rPr lang="en-US" dirty="0"/>
              <a:t>They collectively agree on which items to include in the Sprint and set the Sprint Goal, such as "Deliver a basic task creation feature."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63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b. Daily Scrum (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Timebox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1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minutes):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Every </a:t>
            </a:r>
            <a:r>
              <a:rPr lang="en-US" dirty="0"/>
              <a:t>day during the Sprint, the Development Team (Sarah, John, and Michael) gathers for the Daily Scrum.</a:t>
            </a:r>
          </a:p>
          <a:p>
            <a:r>
              <a:rPr lang="en-US" dirty="0"/>
              <a:t>Each team member provides an update on their progress since the last Daily Scrum, such as "I completed the task creation UI," "I'm currently working on the database integration," etc.</a:t>
            </a:r>
          </a:p>
          <a:p>
            <a:r>
              <a:rPr lang="en-US" dirty="0"/>
              <a:t>They discuss any impediments or blockers, such as "I'm waiting for API access from the backend team."</a:t>
            </a:r>
          </a:p>
          <a:p>
            <a:r>
              <a:rPr lang="en-US" dirty="0"/>
              <a:t>They plan their work for the next 24 hours, aligning their efforts to achieve the Sprint Goal.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78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c. Sprint </a:t>
            </a:r>
            <a:r>
              <a:rPr lang="en-US" dirty="0"/>
              <a:t>Review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/>
              <a:t>Timebox</a:t>
            </a:r>
            <a:r>
              <a:rPr lang="en-US" dirty="0"/>
              <a:t>: 4 hours for a 2-week sprint):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At </a:t>
            </a:r>
            <a:r>
              <a:rPr lang="en-US" dirty="0"/>
              <a:t>the end of the 2-week Sprint, the Development Team (Sarah, John, and Michael) holds a Sprint Review meeting with stakeholders, including the Product Owner Alex and some potential users of the task management software.</a:t>
            </a:r>
          </a:p>
          <a:p>
            <a:r>
              <a:rPr lang="en-US" dirty="0"/>
              <a:t>Sarah, John, and Michael demonstrate the completed features, including task creation, assignment, and status updates.</a:t>
            </a:r>
          </a:p>
          <a:p>
            <a:r>
              <a:rPr lang="en-US" dirty="0"/>
              <a:t>Stakeholders provide feedback, such as suggesting improvements to the user interface or additional features they would like to see in the future.</a:t>
            </a:r>
          </a:p>
          <a:p>
            <a:r>
              <a:rPr lang="en-US" dirty="0"/>
              <a:t>The team and stakeholders discuss what was accomplished during the Sprint, and Alex updates the product backlog based on the feedback received.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260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d. Sprint Retrospective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Timebox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3 hours for a 2-week sprint):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After </a:t>
            </a:r>
            <a:r>
              <a:rPr lang="en-US" dirty="0"/>
              <a:t>the Sprint Review, the Scrum Team (Emily, Alex, Sarah, John, and Michael) conducts a Sprint Retrospective.</a:t>
            </a:r>
          </a:p>
          <a:p>
            <a:r>
              <a:rPr lang="en-US" dirty="0"/>
              <a:t>They reflect on the past Sprint and discuss what went well, such as smooth collaboration and timely delivery of features.</a:t>
            </a:r>
          </a:p>
          <a:p>
            <a:r>
              <a:rPr lang="en-US" dirty="0"/>
              <a:t>They also identify areas for improvement, such as the need for more detailed user stories or better communication with stakeholders.</a:t>
            </a:r>
          </a:p>
          <a:p>
            <a:r>
              <a:rPr lang="en-US" dirty="0"/>
              <a:t>The team agrees on action items to address these improvement areas and commits to implementing them in the next Sprint.</a:t>
            </a:r>
          </a:p>
          <a:p>
            <a:r>
              <a:rPr lang="en-US" dirty="0" smtClean="0"/>
              <a:t>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63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e. Backlog Refinement/Grooming (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Timebox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2 hours in the first week of the Sprint):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</a:t>
            </a:r>
            <a:r>
              <a:rPr lang="en-US" dirty="0"/>
              <a:t>the first week of the Sprint, Alex and the Development Team (Sarah, John, and Michael) conduct a Backlog Refinement session.</a:t>
            </a:r>
          </a:p>
          <a:p>
            <a:r>
              <a:rPr lang="en-US" dirty="0"/>
              <a:t>They review and refine the product backlog items for future Sprints, breaking down larger items into smaller, more manageable tasks.</a:t>
            </a:r>
          </a:p>
          <a:p>
            <a:r>
              <a:rPr lang="en-US" dirty="0"/>
              <a:t>Alex ensures that the upcoming items are well-prepared and understood by the Development Team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01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f. Sprint (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Timebox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2 weeks):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During </a:t>
            </a:r>
            <a:r>
              <a:rPr lang="en-US" dirty="0"/>
              <a:t>the 2-week Sprint, the Development Team (Sarah, John, and Michael) works on developing the task management software, focusing on the Sprint Goal set during the Sprint Planning meeting.</a:t>
            </a:r>
          </a:p>
          <a:p>
            <a:r>
              <a:rPr lang="en-US" dirty="0"/>
              <a:t>They use the Daily Scrum meetings to coordinate their efforts and track progress towards completing the Sprint Goal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622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686233"/>
              </p:ext>
            </p:extLst>
          </p:nvPr>
        </p:nvGraphicFramePr>
        <p:xfrm>
          <a:off x="1" y="0"/>
          <a:ext cx="9143998" cy="6952598"/>
        </p:xfrm>
        <a:graphic>
          <a:graphicData uri="http://schemas.openxmlformats.org/drawingml/2006/table">
            <a:tbl>
              <a:tblPr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2749">
                  <a:extLst>
                    <a:ext uri="{9D8B030D-6E8A-4147-A177-3AD203B41FA5}">
                      <a16:colId xmlns:a16="http://schemas.microsoft.com/office/drawing/2014/main" val="2563055360"/>
                    </a:ext>
                  </a:extLst>
                </a:gridCol>
                <a:gridCol w="2851304">
                  <a:extLst>
                    <a:ext uri="{9D8B030D-6E8A-4147-A177-3AD203B41FA5}">
                      <a16:colId xmlns:a16="http://schemas.microsoft.com/office/drawing/2014/main" val="1596234970"/>
                    </a:ext>
                  </a:extLst>
                </a:gridCol>
                <a:gridCol w="1741939">
                  <a:extLst>
                    <a:ext uri="{9D8B030D-6E8A-4147-A177-3AD203B41FA5}">
                      <a16:colId xmlns:a16="http://schemas.microsoft.com/office/drawing/2014/main" val="1701267955"/>
                    </a:ext>
                  </a:extLst>
                </a:gridCol>
                <a:gridCol w="2738006">
                  <a:extLst>
                    <a:ext uri="{9D8B030D-6E8A-4147-A177-3AD203B41FA5}">
                      <a16:colId xmlns:a16="http://schemas.microsoft.com/office/drawing/2014/main" val="3903320780"/>
                    </a:ext>
                  </a:extLst>
                </a:gridCol>
              </a:tblGrid>
              <a:tr h="19340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</a:rPr>
                        <a:t>Sprint Duration: 2 weeks (10 working days)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036972"/>
                  </a:ext>
                </a:extLst>
              </a:tr>
              <a:tr h="174963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240952"/>
                  </a:ext>
                </a:extLst>
              </a:tr>
              <a:tr h="19340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Sprint Table: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15857"/>
                  </a:ext>
                </a:extLst>
              </a:tr>
              <a:tr h="174963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672006"/>
                  </a:ext>
                </a:extLst>
              </a:tr>
              <a:tr h="174963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970074"/>
                  </a:ext>
                </a:extLst>
              </a:tr>
              <a:tr h="17496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Day</a:t>
                      </a:r>
                      <a:endParaRPr lang="en-IN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Activity</a:t>
                      </a:r>
                      <a:endParaRPr lang="en-IN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Timebox</a:t>
                      </a:r>
                      <a:endParaRPr lang="en-IN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Who</a:t>
                      </a:r>
                      <a:endParaRPr lang="en-IN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98934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Day 1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Sprint Planning Meeting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4 hours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Product Owner, Development Team, Scrum Master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583724"/>
                  </a:ext>
                </a:extLst>
              </a:tr>
              <a:tr h="1749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- Define Sprint Goal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3096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- Select backlog items for the Sprint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321085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- Breakdown selected items into tasks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102411"/>
                  </a:ext>
                </a:extLst>
              </a:tr>
              <a:tr h="1749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Day 2-9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Sprint Execution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10 days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Development Team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221789"/>
                  </a:ext>
                </a:extLst>
              </a:tr>
              <a:tr h="1749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- Daily Scrum Meeting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15 minutes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Development Team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200882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- Work on tasks and collaborate as needed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503822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- Scrum Master removes impediments as required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701299"/>
                  </a:ext>
                </a:extLst>
              </a:tr>
              <a:tr h="46969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Day 10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Sprint Review and Demo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4 hours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Product Owner, Development Team, Scrum Master, Stakeholders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34201"/>
                  </a:ext>
                </a:extLst>
              </a:tr>
              <a:tr h="1749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- Present product increment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752332"/>
                  </a:ext>
                </a:extLst>
              </a:tr>
              <a:tr h="1749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- Collect feedback and insights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685034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- Adapt Product Backlog based on feedback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164471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Day 11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Sprint Retrospective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3 hours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Product Owner, Development Team, Scrum Master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108996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- Reflect on the Sprint and team's performance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36144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- Identify improvement opportunities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919833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- Create action items for the next Sprint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723204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Day 12-13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Backlog Refinement/Grooming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1 day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Product Owner, Development Team, Scrum Master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31947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- Review and refine upcoming backlog items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658744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- Breakdown larger items into smaller tasks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675198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Day 14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Rest and Prepare for the Next Sprint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1" marR="4571" marT="4571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655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26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1494</TotalTime>
  <Words>877</Words>
  <Application>Microsoft Office PowerPoint</Application>
  <PresentationFormat>On-screen Show (4:3)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Corbel</vt:lpstr>
      <vt:lpstr>Parallax</vt:lpstr>
      <vt:lpstr>PowerPoint Presentation</vt:lpstr>
      <vt:lpstr>PowerPoint Presentation</vt:lpstr>
      <vt:lpstr>Scrum Roles:</vt:lpstr>
      <vt:lpstr>Scrum Activities and Time Durations: </vt:lpstr>
      <vt:lpstr>b. Daily Scrum (Timebox: 15 minutes): </vt:lpstr>
      <vt:lpstr>c. Sprint Review  (Timebox: 4 hours for a 2-week sprint): </vt:lpstr>
      <vt:lpstr>d. Sprint Retrospective  (Timebox: 3 hours for a 2-week sprint): </vt:lpstr>
      <vt:lpstr>e. Backlog Refinement/Grooming (Timebox: 2 hours in the first week of the Sprint): </vt:lpstr>
      <vt:lpstr>f. Sprint (Timebox: 2 weeks):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Pathak HRM</dc:creator>
  <cp:lastModifiedBy>Vishal Pathak HRM</cp:lastModifiedBy>
  <cp:revision>9</cp:revision>
  <dcterms:created xsi:type="dcterms:W3CDTF">2023-08-04T05:03:20Z</dcterms:created>
  <dcterms:modified xsi:type="dcterms:W3CDTF">2023-08-10T20:06:10Z</dcterms:modified>
</cp:coreProperties>
</file>