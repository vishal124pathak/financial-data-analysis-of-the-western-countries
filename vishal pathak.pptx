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58" r:id="rId5"/>
    <p:sldId id="259" r:id="rId6"/>
    <p:sldId id="276" r:id="rId7"/>
    <p:sldId id="272" r:id="rId8"/>
    <p:sldId id="274" r:id="rId9"/>
    <p:sldId id="279" r:id="rId10"/>
    <p:sldId id="273" r:id="rId11"/>
    <p:sldId id="278" r:id="rId12"/>
    <p:sldId id="277" r:id="rId13"/>
    <p:sldId id="281" r:id="rId14"/>
    <p:sldId id="280" r:id="rId15"/>
    <p:sldId id="275" r:id="rId16"/>
    <p:sldId id="285" r:id="rId17"/>
    <p:sldId id="286" r:id="rId18"/>
    <p:sldId id="287" r:id="rId19"/>
    <p:sldId id="288" r:id="rId20"/>
    <p:sldId id="282" r:id="rId21"/>
    <p:sldId id="265" r:id="rId22"/>
    <p:sldId id="266" r:id="rId23"/>
    <p:sldId id="267" r:id="rId24"/>
    <p:sldId id="268" r:id="rId25"/>
    <p:sldId id="269" r:id="rId26"/>
    <p:sldId id="270" r:id="rId27"/>
    <p:sldId id="271" r:id="rId28"/>
    <p:sldId id="262" r:id="rId29"/>
    <p:sldId id="261" r:id="rId30"/>
    <p:sldId id="263" r:id="rId31"/>
    <p:sldId id="283" r:id="rId32"/>
    <p:sldId id="28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343" autoAdjust="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3168CC68-C9D1-4F19-9779-E990F1B1BECD}" type="datetimeFigureOut">
              <a:rPr lang="en-IN" smtClean="0"/>
              <a:t>04-09-2023</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983ABD0-551F-4A73-BBB7-F0AFC65498C7}" type="slidenum">
              <a:rPr lang="en-IN" smtClean="0"/>
              <a:t>‹#›</a:t>
            </a:fld>
            <a:endParaRPr lang="en-IN"/>
          </a:p>
        </p:txBody>
      </p:sp>
    </p:spTree>
    <p:extLst>
      <p:ext uri="{BB962C8B-B14F-4D97-AF65-F5344CB8AC3E}">
        <p14:creationId xmlns:p14="http://schemas.microsoft.com/office/powerpoint/2010/main" val="355405468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168CC68-C9D1-4F19-9779-E990F1B1BECD}" type="datetimeFigureOut">
              <a:rPr lang="en-IN" smtClean="0"/>
              <a:t>04-09-2023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83ABD0-551F-4A73-BBB7-F0AFC65498C7}" type="slidenum">
              <a:rPr lang="en-IN" smtClean="0"/>
              <a:t>‹#›</a:t>
            </a:fld>
            <a:endParaRPr lang="en-IN"/>
          </a:p>
        </p:txBody>
      </p:sp>
    </p:spTree>
    <p:extLst>
      <p:ext uri="{BB962C8B-B14F-4D97-AF65-F5344CB8AC3E}">
        <p14:creationId xmlns:p14="http://schemas.microsoft.com/office/powerpoint/2010/main" val="1047433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3168CC68-C9D1-4F19-9779-E990F1B1BECD}" type="datetimeFigureOut">
              <a:rPr lang="en-IN" smtClean="0"/>
              <a:t>04-09-2023</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5983ABD0-551F-4A73-BBB7-F0AFC65498C7}" type="slidenum">
              <a:rPr lang="en-IN" smtClean="0"/>
              <a:t>‹#›</a:t>
            </a:fld>
            <a:endParaRPr lang="en-IN"/>
          </a:p>
        </p:txBody>
      </p:sp>
    </p:spTree>
    <p:extLst>
      <p:ext uri="{BB962C8B-B14F-4D97-AF65-F5344CB8AC3E}">
        <p14:creationId xmlns:p14="http://schemas.microsoft.com/office/powerpoint/2010/main" val="86133375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168CC68-C9D1-4F19-9779-E990F1B1BECD}" type="datetimeFigureOut">
              <a:rPr lang="en-IN" smtClean="0"/>
              <a:t>04-09-2023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83ABD0-551F-4A73-BBB7-F0AFC65498C7}" type="slidenum">
              <a:rPr lang="en-IN" smtClean="0"/>
              <a:t>‹#›</a:t>
            </a:fld>
            <a:endParaRPr lang="en-IN"/>
          </a:p>
        </p:txBody>
      </p:sp>
    </p:spTree>
    <p:extLst>
      <p:ext uri="{BB962C8B-B14F-4D97-AF65-F5344CB8AC3E}">
        <p14:creationId xmlns:p14="http://schemas.microsoft.com/office/powerpoint/2010/main" val="1789200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168CC68-C9D1-4F19-9779-E990F1B1BECD}" type="datetimeFigureOut">
              <a:rPr lang="en-IN" smtClean="0"/>
              <a:t>04-09-2023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83ABD0-551F-4A73-BBB7-F0AFC65498C7}" type="slidenum">
              <a:rPr lang="en-IN" smtClean="0"/>
              <a:t>‹#›</a:t>
            </a:fld>
            <a:endParaRPr lang="en-IN"/>
          </a:p>
        </p:txBody>
      </p:sp>
    </p:spTree>
    <p:extLst>
      <p:ext uri="{BB962C8B-B14F-4D97-AF65-F5344CB8AC3E}">
        <p14:creationId xmlns:p14="http://schemas.microsoft.com/office/powerpoint/2010/main" val="1165554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168CC68-C9D1-4F19-9779-E990F1B1BECD}" type="datetimeFigureOut">
              <a:rPr lang="en-IN" smtClean="0"/>
              <a:t>04-09-2023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83ABD0-551F-4A73-BBB7-F0AFC65498C7}" type="slidenum">
              <a:rPr lang="en-IN" smtClean="0"/>
              <a:t>‹#›</a:t>
            </a:fld>
            <a:endParaRPr lang="en-IN"/>
          </a:p>
        </p:txBody>
      </p:sp>
    </p:spTree>
    <p:extLst>
      <p:ext uri="{BB962C8B-B14F-4D97-AF65-F5344CB8AC3E}">
        <p14:creationId xmlns:p14="http://schemas.microsoft.com/office/powerpoint/2010/main" val="1104349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68CC68-C9D1-4F19-9779-E990F1B1BECD}" type="datetimeFigureOut">
              <a:rPr lang="en-IN" smtClean="0"/>
              <a:t>04-09-2023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83ABD0-551F-4A73-BBB7-F0AFC65498C7}" type="slidenum">
              <a:rPr lang="en-IN" smtClean="0"/>
              <a:t>‹#›</a:t>
            </a:fld>
            <a:endParaRPr lang="en-IN"/>
          </a:p>
        </p:txBody>
      </p:sp>
    </p:spTree>
    <p:extLst>
      <p:ext uri="{BB962C8B-B14F-4D97-AF65-F5344CB8AC3E}">
        <p14:creationId xmlns:p14="http://schemas.microsoft.com/office/powerpoint/2010/main" val="297170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3168CC68-C9D1-4F19-9779-E990F1B1BECD}" type="datetimeFigureOut">
              <a:rPr lang="en-IN" smtClean="0"/>
              <a:t>04-09-2023</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5983ABD0-551F-4A73-BBB7-F0AFC65498C7}"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08971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3168CC68-C9D1-4F19-9779-E990F1B1BECD}" type="datetimeFigureOut">
              <a:rPr lang="en-IN" smtClean="0"/>
              <a:t>04-09-2023</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5983ABD0-551F-4A73-BBB7-F0AFC65498C7}"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11165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68CC68-C9D1-4F19-9779-E990F1B1BECD}" type="datetimeFigureOut">
              <a:rPr lang="en-IN" smtClean="0"/>
              <a:t>04-09-2023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83ABD0-551F-4A73-BBB7-F0AFC65498C7}" type="slidenum">
              <a:rPr lang="en-IN" smtClean="0"/>
              <a:t>‹#›</a:t>
            </a:fld>
            <a:endParaRPr lang="en-IN"/>
          </a:p>
        </p:txBody>
      </p:sp>
    </p:spTree>
    <p:extLst>
      <p:ext uri="{BB962C8B-B14F-4D97-AF65-F5344CB8AC3E}">
        <p14:creationId xmlns:p14="http://schemas.microsoft.com/office/powerpoint/2010/main" val="944059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168CC68-C9D1-4F19-9779-E990F1B1BECD}" type="datetimeFigureOut">
              <a:rPr lang="en-IN" smtClean="0"/>
              <a:t>04-09-2023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83ABD0-551F-4A73-BBB7-F0AFC65498C7}" type="slidenum">
              <a:rPr lang="en-IN" smtClean="0"/>
              <a:t>‹#›</a:t>
            </a:fld>
            <a:endParaRPr lang="en-IN"/>
          </a:p>
        </p:txBody>
      </p:sp>
    </p:spTree>
    <p:extLst>
      <p:ext uri="{BB962C8B-B14F-4D97-AF65-F5344CB8AC3E}">
        <p14:creationId xmlns:p14="http://schemas.microsoft.com/office/powerpoint/2010/main" val="3013656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3168CC68-C9D1-4F19-9779-E990F1B1BECD}" type="datetimeFigureOut">
              <a:rPr lang="en-IN" smtClean="0"/>
              <a:t>04-09-2023</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983ABD0-551F-4A73-BBB7-F0AFC65498C7}" type="slidenum">
              <a:rPr lang="en-IN" smtClean="0"/>
              <a:t>‹#›</a:t>
            </a:fld>
            <a:endParaRPr lang="en-IN"/>
          </a:p>
        </p:txBody>
      </p:sp>
    </p:spTree>
    <p:extLst>
      <p:ext uri="{BB962C8B-B14F-4D97-AF65-F5344CB8AC3E}">
        <p14:creationId xmlns:p14="http://schemas.microsoft.com/office/powerpoint/2010/main" val="39445631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382" y="353947"/>
            <a:ext cx="2143125" cy="2143125"/>
          </a:xfrm>
          <a:prstGeom prst="rect">
            <a:avLst/>
          </a:prstGeom>
        </p:spPr>
      </p:pic>
      <p:sp>
        <p:nvSpPr>
          <p:cNvPr id="5" name="Rectangle 4"/>
          <p:cNvSpPr/>
          <p:nvPr/>
        </p:nvSpPr>
        <p:spPr>
          <a:xfrm>
            <a:off x="2539507" y="456906"/>
            <a:ext cx="7185359" cy="1754326"/>
          </a:xfrm>
          <a:prstGeom prst="rect">
            <a:avLst/>
          </a:prstGeom>
          <a:noFill/>
        </p:spPr>
        <p:txBody>
          <a:bodyPr wrap="square" lIns="91440" tIns="45720" rIns="91440" bIns="45720">
            <a:spAutoFit/>
          </a:bodyPr>
          <a:lstStyle/>
          <a:p>
            <a:pPr algn="ctr"/>
            <a:r>
              <a:rPr lang="en-US" sz="5400" dirty="0" smtClean="0">
                <a:ln w="0"/>
                <a:solidFill>
                  <a:schemeClr val="accent1"/>
                </a:solidFill>
                <a:effectLst>
                  <a:outerShdw blurRad="38100" dist="25400" dir="5400000" algn="ctr" rotWithShape="0">
                    <a:srgbClr val="6E747A">
                      <a:alpha val="43000"/>
                    </a:srgbClr>
                  </a:outerShdw>
                </a:effectLst>
              </a:rPr>
              <a:t>Business Analyst Career Program</a:t>
            </a:r>
            <a:endParaRPr lang="en-US" sz="5400" dirty="0">
              <a:ln w="0"/>
              <a:solidFill>
                <a:schemeClr val="accent1"/>
              </a:solidFill>
              <a:effectLst>
                <a:outerShdw blurRad="38100" dist="25400" dir="5400000" algn="ctr" rotWithShape="0">
                  <a:srgbClr val="6E747A">
                    <a:alpha val="43000"/>
                  </a:srgbClr>
                </a:outerShdw>
              </a:effectLst>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7558" y="262507"/>
            <a:ext cx="1905000" cy="1905000"/>
          </a:xfrm>
          <a:prstGeom prst="rect">
            <a:avLst/>
          </a:prstGeom>
        </p:spPr>
      </p:pic>
      <p:sp>
        <p:nvSpPr>
          <p:cNvPr id="3" name="TextBox 2"/>
          <p:cNvSpPr txBox="1"/>
          <p:nvPr/>
        </p:nvSpPr>
        <p:spPr>
          <a:xfrm>
            <a:off x="1319349" y="4402183"/>
            <a:ext cx="3683725" cy="707886"/>
          </a:xfrm>
          <a:prstGeom prst="rect">
            <a:avLst/>
          </a:prstGeom>
          <a:noFill/>
        </p:spPr>
        <p:txBody>
          <a:bodyPr wrap="square" rtlCol="0">
            <a:spAutoFit/>
          </a:bodyPr>
          <a:lstStyle/>
          <a:p>
            <a:r>
              <a:rPr lang="en-US" sz="2000" dirty="0" smtClean="0">
                <a:latin typeface="Arial" panose="020B0604020202020204" pitchFamily="34" charset="0"/>
                <a:cs typeface="Arial" panose="020B0604020202020204" pitchFamily="34" charset="0"/>
              </a:rPr>
              <a:t>NAME:VISHAL PATHAK</a:t>
            </a:r>
          </a:p>
          <a:p>
            <a:r>
              <a:rPr lang="en-US" sz="2000" dirty="0" smtClean="0">
                <a:latin typeface="Arial" panose="020B0604020202020204" pitchFamily="34" charset="0"/>
                <a:cs typeface="Arial" panose="020B0604020202020204" pitchFamily="34" charset="0"/>
              </a:rPr>
              <a:t>BATCH: 6</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07008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lumMod val="75000"/>
                  </a:schemeClr>
                </a:solidFill>
              </a:rPr>
              <a:t>INDEX</a:t>
            </a:r>
            <a:endParaRPr lang="en-IN" dirty="0">
              <a:solidFill>
                <a:schemeClr val="accent1">
                  <a:lumMod val="75000"/>
                </a:schemeClr>
              </a:solidFill>
            </a:endParaRPr>
          </a:p>
        </p:txBody>
      </p:sp>
      <p:sp>
        <p:nvSpPr>
          <p:cNvPr id="3" name="Content Placeholder 2"/>
          <p:cNvSpPr>
            <a:spLocks noGrp="1"/>
          </p:cNvSpPr>
          <p:nvPr>
            <p:ph idx="1"/>
          </p:nvPr>
        </p:nvSpPr>
        <p:spPr/>
        <p:txBody>
          <a:bodyPr/>
          <a:lstStyle/>
          <a:p>
            <a:r>
              <a:rPr lang="en-US" dirty="0"/>
              <a:t>Project Summary</a:t>
            </a:r>
            <a:r>
              <a:rPr lang="en-US" dirty="0" smtClean="0"/>
              <a:t>.</a:t>
            </a:r>
          </a:p>
          <a:p>
            <a:r>
              <a:rPr lang="en-US" dirty="0" smtClean="0"/>
              <a:t>Dataset </a:t>
            </a:r>
            <a:r>
              <a:rPr lang="en-US" dirty="0"/>
              <a:t>Overview &amp; Graphical Analysis using Excel</a:t>
            </a:r>
            <a:r>
              <a:rPr lang="en-US" dirty="0" smtClean="0"/>
              <a:t>.</a:t>
            </a:r>
          </a:p>
          <a:p>
            <a:r>
              <a:rPr lang="en-US" dirty="0" smtClean="0"/>
              <a:t>Statistical </a:t>
            </a:r>
            <a:r>
              <a:rPr lang="en-US" dirty="0"/>
              <a:t>Analysis using Excel. </a:t>
            </a:r>
            <a:endParaRPr lang="en-US" dirty="0" smtClean="0"/>
          </a:p>
          <a:p>
            <a:r>
              <a:rPr lang="en-US" dirty="0" smtClean="0"/>
              <a:t>Summarize</a:t>
            </a:r>
            <a:r>
              <a:rPr lang="en-US" dirty="0"/>
              <a:t>, the Process of importing Data from and SQL database into Power </a:t>
            </a:r>
            <a:r>
              <a:rPr lang="en-US" dirty="0" smtClean="0"/>
              <a:t>BI involves</a:t>
            </a:r>
          </a:p>
          <a:p>
            <a:r>
              <a:rPr lang="en-US" dirty="0" smtClean="0"/>
              <a:t>Insert </a:t>
            </a:r>
            <a:r>
              <a:rPr lang="en-US" dirty="0"/>
              <a:t>the given Data in to the my SQL Server &amp; Running </a:t>
            </a:r>
            <a:r>
              <a:rPr lang="en-US" dirty="0" smtClean="0"/>
              <a:t>Queries.</a:t>
            </a:r>
          </a:p>
          <a:p>
            <a:r>
              <a:rPr lang="en-US" dirty="0" smtClean="0"/>
              <a:t>Create Power </a:t>
            </a:r>
            <a:r>
              <a:rPr lang="en-US" dirty="0"/>
              <a:t>BI Dashboard. </a:t>
            </a:r>
            <a:endParaRPr lang="en-US" dirty="0" smtClean="0"/>
          </a:p>
          <a:p>
            <a:r>
              <a:rPr lang="en-US" dirty="0" smtClean="0"/>
              <a:t>Conclusion </a:t>
            </a:r>
            <a:r>
              <a:rPr lang="en-US" dirty="0"/>
              <a:t>and Inferences</a:t>
            </a:r>
            <a:r>
              <a:rPr lang="en-US" dirty="0" smtClean="0"/>
              <a:t>.</a:t>
            </a:r>
          </a:p>
          <a:p>
            <a:r>
              <a:rPr lang="en-US" dirty="0" smtClean="0"/>
              <a:t>Explore </a:t>
            </a:r>
            <a:r>
              <a:rPr lang="en-US" dirty="0"/>
              <a:t>the Data using Excel and Prepare a short summary about the Dataset.</a:t>
            </a:r>
            <a:endParaRPr lang="en-IN" dirty="0"/>
          </a:p>
        </p:txBody>
      </p:sp>
    </p:spTree>
    <p:extLst>
      <p:ext uri="{BB962C8B-B14F-4D97-AF65-F5344CB8AC3E}">
        <p14:creationId xmlns:p14="http://schemas.microsoft.com/office/powerpoint/2010/main" val="32149676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latin typeface="Arial Black" panose="020B0A04020102020204" pitchFamily="34" charset="0"/>
                <a:cs typeface="Arial" panose="020B0604020202020204" pitchFamily="34" charset="0"/>
              </a:rPr>
              <a:t>Here in this PPT presentation I am presenting:</a:t>
            </a:r>
            <a:endParaRPr lang="en-IN" sz="2800" dirty="0">
              <a:latin typeface="Arial Black" panose="020B0A040201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Explore, Understand, Clean and Summaries the Data</a:t>
            </a:r>
            <a:r>
              <a:rPr lang="en-US" dirty="0" smtClean="0"/>
              <a:t>.</a:t>
            </a:r>
          </a:p>
          <a:p>
            <a:r>
              <a:rPr lang="en-US" dirty="0" smtClean="0"/>
              <a:t>Statistical </a:t>
            </a:r>
            <a:r>
              <a:rPr lang="en-US" dirty="0"/>
              <a:t>analysis with various Statistical tools. </a:t>
            </a:r>
            <a:endParaRPr lang="en-US" dirty="0" smtClean="0"/>
          </a:p>
          <a:p>
            <a:r>
              <a:rPr lang="en-US" dirty="0" smtClean="0"/>
              <a:t>Perform </a:t>
            </a:r>
            <a:r>
              <a:rPr lang="en-US" dirty="0"/>
              <a:t>Graphical Analysis using Excel to Drive </a:t>
            </a:r>
            <a:r>
              <a:rPr lang="en-US" dirty="0" smtClean="0"/>
              <a:t>Insight.</a:t>
            </a:r>
          </a:p>
          <a:p>
            <a:r>
              <a:rPr lang="en-US" dirty="0" smtClean="0"/>
              <a:t>Inserting </a:t>
            </a:r>
            <a:r>
              <a:rPr lang="en-US" dirty="0"/>
              <a:t>Data in SQL Server and performing queries. </a:t>
            </a:r>
            <a:endParaRPr lang="en-US" dirty="0" smtClean="0"/>
          </a:p>
          <a:p>
            <a:r>
              <a:rPr lang="en-US" dirty="0" smtClean="0"/>
              <a:t>Importing </a:t>
            </a:r>
            <a:r>
              <a:rPr lang="en-US" dirty="0"/>
              <a:t>Data in Power BI and Making Dashboard as </a:t>
            </a:r>
            <a:r>
              <a:rPr lang="en-US" dirty="0" smtClean="0"/>
              <a:t>required.</a:t>
            </a:r>
          </a:p>
          <a:p>
            <a:r>
              <a:rPr lang="en-US" dirty="0" smtClean="0"/>
              <a:t>And </a:t>
            </a:r>
            <a:r>
              <a:rPr lang="en-US" dirty="0" smtClean="0"/>
              <a:t>Lastly , Deriving </a:t>
            </a:r>
            <a:r>
              <a:rPr lang="en-US" dirty="0"/>
              <a:t>Conclusion and Inferences from the Dashboard</a:t>
            </a:r>
            <a:r>
              <a:rPr lang="en-US" dirty="0" smtClean="0"/>
              <a:t>.</a:t>
            </a:r>
          </a:p>
          <a:p>
            <a:r>
              <a:rPr lang="en-US" dirty="0" smtClean="0"/>
              <a:t>All </a:t>
            </a:r>
            <a:r>
              <a:rPr lang="en-US" dirty="0"/>
              <a:t>the Links for Source files will also be given where necessary for Reference. In the Presentation </a:t>
            </a:r>
            <a:r>
              <a:rPr lang="en-US" dirty="0" smtClean="0"/>
              <a:t>Will going </a:t>
            </a:r>
            <a:r>
              <a:rPr lang="en-US" dirty="0"/>
              <a:t>to Provide Details Using Summaries, Graphs and Pictures.</a:t>
            </a:r>
            <a:endParaRPr lang="en-IN" dirty="0"/>
          </a:p>
        </p:txBody>
      </p:sp>
    </p:spTree>
    <p:extLst>
      <p:ext uri="{BB962C8B-B14F-4D97-AF65-F5344CB8AC3E}">
        <p14:creationId xmlns:p14="http://schemas.microsoft.com/office/powerpoint/2010/main" val="19266474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227908" y="1854926"/>
            <a:ext cx="10319657" cy="1446550"/>
          </a:xfrm>
          <a:prstGeom prst="rect">
            <a:avLst/>
          </a:prstGeom>
          <a:noFill/>
        </p:spPr>
        <p:txBody>
          <a:bodyPr wrap="square" rtlCol="0">
            <a:spAutoFit/>
          </a:bodyPr>
          <a:lstStyle/>
          <a:p>
            <a:r>
              <a:rPr lang="en-US" sz="4400" dirty="0">
                <a:latin typeface="Arial Black" panose="020B0A04020102020204" pitchFamily="34" charset="0"/>
              </a:rPr>
              <a:t>Data Exploration and Graphical Analysis Using Excel</a:t>
            </a:r>
            <a:endParaRPr lang="en-IN" sz="4400" dirty="0">
              <a:latin typeface="Arial Black" panose="020B0A04020102020204" pitchFamily="34" charset="0"/>
            </a:endParaRPr>
          </a:p>
        </p:txBody>
      </p:sp>
    </p:spTree>
    <p:extLst>
      <p:ext uri="{BB962C8B-B14F-4D97-AF65-F5344CB8AC3E}">
        <p14:creationId xmlns:p14="http://schemas.microsoft.com/office/powerpoint/2010/main" val="12139781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latin typeface="Arial" panose="020B0604020202020204" pitchFamily="34" charset="0"/>
                <a:cs typeface="Arial" panose="020B0604020202020204" pitchFamily="34" charset="0"/>
              </a:rPr>
              <a:t>Explore the Data using Excel. Understand the data and prepare a short summary about the dataset.</a:t>
            </a:r>
            <a:endParaRPr lang="en-IN" sz="20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r>
              <a:rPr lang="en-US" dirty="0"/>
              <a:t>A Business Analyst career program capstone project is a final, culminating task that demonstrates </a:t>
            </a:r>
            <a:r>
              <a:rPr lang="en-US" dirty="0" smtClean="0"/>
              <a:t>a student's </a:t>
            </a:r>
            <a:r>
              <a:rPr lang="en-US" dirty="0"/>
              <a:t>proficiency and practical application of business analysis skills and knowledge gained throughout the program. </a:t>
            </a:r>
            <a:endParaRPr lang="en-US" dirty="0" smtClean="0"/>
          </a:p>
          <a:p>
            <a:r>
              <a:rPr lang="en-US" dirty="0" smtClean="0"/>
              <a:t>Business </a:t>
            </a:r>
            <a:r>
              <a:rPr lang="en-US" dirty="0"/>
              <a:t>Analyst Career Program Capstone Project is the Final Project making completion of our Business Analyst Career Program And we are expected to complete the project by using our Analytical skill and Tools we have learned in the course. In this CAPSTONE PROJECT, I have provided Sales Data of Different Bicycles Brands in Canada, France, Germany, Mexico and USA. We expected to provide useful insight from the available </a:t>
            </a:r>
            <a:r>
              <a:rPr lang="en-US" dirty="0" smtClean="0"/>
              <a:t>data </a:t>
            </a:r>
            <a:r>
              <a:rPr lang="en-US" dirty="0"/>
              <a:t>and Present in systematic manner as instructed in Project guideline.</a:t>
            </a:r>
            <a:endParaRPr lang="en-IN" dirty="0"/>
          </a:p>
        </p:txBody>
      </p:sp>
    </p:spTree>
    <p:extLst>
      <p:ext uri="{BB962C8B-B14F-4D97-AF65-F5344CB8AC3E}">
        <p14:creationId xmlns:p14="http://schemas.microsoft.com/office/powerpoint/2010/main" val="35269244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48193" y="743837"/>
            <a:ext cx="11717383" cy="5926826"/>
          </a:xfrm>
          <a:prstGeom prst="rect">
            <a:avLst/>
          </a:prstGeom>
        </p:spPr>
      </p:pic>
      <p:sp>
        <p:nvSpPr>
          <p:cNvPr id="7" name="TextBox 6"/>
          <p:cNvSpPr txBox="1"/>
          <p:nvPr/>
        </p:nvSpPr>
        <p:spPr>
          <a:xfrm>
            <a:off x="228597" y="270002"/>
            <a:ext cx="11338560" cy="369332"/>
          </a:xfrm>
          <a:prstGeom prst="rect">
            <a:avLst/>
          </a:prstGeom>
          <a:noFill/>
        </p:spPr>
        <p:txBody>
          <a:bodyPr wrap="square" rtlCol="0">
            <a:spAutoFit/>
          </a:bodyPr>
          <a:lstStyle/>
          <a:p>
            <a:r>
              <a:rPr lang="en-US" dirty="0" err="1" smtClean="0"/>
              <a:t>Analyse</a:t>
            </a:r>
            <a:r>
              <a:rPr lang="en-US" dirty="0" smtClean="0"/>
              <a:t> the dataset : use excel formula and function</a:t>
            </a:r>
            <a:endParaRPr lang="en-IN" dirty="0"/>
          </a:p>
        </p:txBody>
      </p:sp>
    </p:spTree>
    <p:extLst>
      <p:ext uri="{BB962C8B-B14F-4D97-AF65-F5344CB8AC3E}">
        <p14:creationId xmlns:p14="http://schemas.microsoft.com/office/powerpoint/2010/main" val="30589841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7201" y="1043989"/>
            <a:ext cx="11482250" cy="5366337"/>
          </a:xfrm>
          <a:prstGeom prst="rect">
            <a:avLst/>
          </a:prstGeom>
        </p:spPr>
      </p:pic>
      <p:sp>
        <p:nvSpPr>
          <p:cNvPr id="3" name="TextBox 2"/>
          <p:cNvSpPr txBox="1"/>
          <p:nvPr/>
        </p:nvSpPr>
        <p:spPr>
          <a:xfrm>
            <a:off x="548640" y="287383"/>
            <a:ext cx="11312434" cy="369332"/>
          </a:xfrm>
          <a:prstGeom prst="rect">
            <a:avLst/>
          </a:prstGeom>
          <a:noFill/>
        </p:spPr>
        <p:txBody>
          <a:bodyPr wrap="square" rtlCol="0">
            <a:spAutoFit/>
          </a:bodyPr>
          <a:lstStyle/>
          <a:p>
            <a:r>
              <a:rPr lang="en-US" dirty="0" err="1" smtClean="0"/>
              <a:t>Analyse</a:t>
            </a:r>
            <a:r>
              <a:rPr lang="en-US" dirty="0" smtClean="0"/>
              <a:t> country wise sales:  finding Canada and USA more sales</a:t>
            </a:r>
            <a:endParaRPr lang="en-IN" dirty="0"/>
          </a:p>
        </p:txBody>
      </p:sp>
    </p:spTree>
    <p:extLst>
      <p:ext uri="{BB962C8B-B14F-4D97-AF65-F5344CB8AC3E}">
        <p14:creationId xmlns:p14="http://schemas.microsoft.com/office/powerpoint/2010/main" val="24301483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1257" y="810515"/>
            <a:ext cx="11426825" cy="5822222"/>
          </a:xfrm>
          <a:prstGeom prst="rect">
            <a:avLst/>
          </a:prstGeom>
        </p:spPr>
      </p:pic>
      <p:sp>
        <p:nvSpPr>
          <p:cNvPr id="3" name="TextBox 2"/>
          <p:cNvSpPr txBox="1"/>
          <p:nvPr/>
        </p:nvSpPr>
        <p:spPr>
          <a:xfrm>
            <a:off x="235131" y="300446"/>
            <a:ext cx="11338560" cy="369332"/>
          </a:xfrm>
          <a:prstGeom prst="rect">
            <a:avLst/>
          </a:prstGeom>
          <a:noFill/>
        </p:spPr>
        <p:txBody>
          <a:bodyPr wrap="square" rtlCol="0">
            <a:spAutoFit/>
          </a:bodyPr>
          <a:lstStyle/>
          <a:p>
            <a:r>
              <a:rPr lang="en-US" smtClean="0"/>
              <a:t>Canada , France , Germany , Mexico focus on government sector and USA focus on small business</a:t>
            </a:r>
            <a:endParaRPr lang="en-IN"/>
          </a:p>
        </p:txBody>
      </p:sp>
    </p:spTree>
    <p:extLst>
      <p:ext uri="{BB962C8B-B14F-4D97-AF65-F5344CB8AC3E}">
        <p14:creationId xmlns:p14="http://schemas.microsoft.com/office/powerpoint/2010/main" val="33162438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48150" y="2299062"/>
            <a:ext cx="5891348" cy="1938992"/>
          </a:xfrm>
          <a:prstGeom prst="rect">
            <a:avLst/>
          </a:prstGeom>
          <a:noFill/>
        </p:spPr>
        <p:txBody>
          <a:bodyPr wrap="square" rtlCol="0">
            <a:spAutoFit/>
          </a:bodyPr>
          <a:lstStyle/>
          <a:p>
            <a:r>
              <a:rPr lang="en-US" sz="4000" dirty="0" smtClean="0">
                <a:latin typeface="Arial Black" panose="020B0A04020102020204" pitchFamily="34" charset="0"/>
              </a:rPr>
              <a:t>STATISTICAL ANALYSIS USING </a:t>
            </a:r>
            <a:r>
              <a:rPr lang="en-US" sz="4000" dirty="0">
                <a:latin typeface="Arial Black" panose="020B0A04020102020204" pitchFamily="34" charset="0"/>
              </a:rPr>
              <a:t>E</a:t>
            </a:r>
            <a:r>
              <a:rPr lang="en-US" sz="4000" dirty="0" smtClean="0">
                <a:latin typeface="Arial Black" panose="020B0A04020102020204" pitchFamily="34" charset="0"/>
              </a:rPr>
              <a:t>XCEL</a:t>
            </a:r>
            <a:endParaRPr lang="en-IN" sz="4000" dirty="0">
              <a:latin typeface="Arial Black" panose="020B0A04020102020204" pitchFamily="34" charset="0"/>
            </a:endParaRPr>
          </a:p>
        </p:txBody>
      </p:sp>
    </p:spTree>
    <p:extLst>
      <p:ext uri="{BB962C8B-B14F-4D97-AF65-F5344CB8AC3E}">
        <p14:creationId xmlns:p14="http://schemas.microsoft.com/office/powerpoint/2010/main" val="14426900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4320" y="994493"/>
            <a:ext cx="11665131" cy="5491730"/>
          </a:xfrm>
          <a:prstGeom prst="rect">
            <a:avLst/>
          </a:prstGeom>
        </p:spPr>
      </p:pic>
      <p:sp>
        <p:nvSpPr>
          <p:cNvPr id="3" name="TextBox 2"/>
          <p:cNvSpPr txBox="1"/>
          <p:nvPr/>
        </p:nvSpPr>
        <p:spPr>
          <a:xfrm>
            <a:off x="274320" y="313509"/>
            <a:ext cx="11665131" cy="369332"/>
          </a:xfrm>
          <a:prstGeom prst="rect">
            <a:avLst/>
          </a:prstGeom>
          <a:noFill/>
        </p:spPr>
        <p:txBody>
          <a:bodyPr wrap="square" rtlCol="0">
            <a:spAutoFit/>
          </a:bodyPr>
          <a:lstStyle/>
          <a:p>
            <a:r>
              <a:rPr lang="en-US" smtClean="0"/>
              <a:t>Here </a:t>
            </a:r>
            <a:r>
              <a:rPr lang="en-US" dirty="0" smtClean="0"/>
              <a:t>p value is smaller than alpha value than we </a:t>
            </a:r>
            <a:r>
              <a:rPr lang="en-US" dirty="0" err="1" smtClean="0"/>
              <a:t>conclue</a:t>
            </a:r>
            <a:r>
              <a:rPr lang="en-US" smtClean="0"/>
              <a:t> H1 </a:t>
            </a:r>
            <a:endParaRPr lang="en-IN"/>
          </a:p>
        </p:txBody>
      </p:sp>
    </p:spTree>
    <p:extLst>
      <p:ext uri="{BB962C8B-B14F-4D97-AF65-F5344CB8AC3E}">
        <p14:creationId xmlns:p14="http://schemas.microsoft.com/office/powerpoint/2010/main" val="34185858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5131" y="765307"/>
            <a:ext cx="11661957" cy="5862128"/>
          </a:xfrm>
          <a:prstGeom prst="rect">
            <a:avLst/>
          </a:prstGeom>
        </p:spPr>
      </p:pic>
      <p:sp>
        <p:nvSpPr>
          <p:cNvPr id="3" name="TextBox 2"/>
          <p:cNvSpPr txBox="1"/>
          <p:nvPr/>
        </p:nvSpPr>
        <p:spPr>
          <a:xfrm>
            <a:off x="261257" y="222069"/>
            <a:ext cx="11547566" cy="369332"/>
          </a:xfrm>
          <a:prstGeom prst="rect">
            <a:avLst/>
          </a:prstGeom>
          <a:noFill/>
        </p:spPr>
        <p:txBody>
          <a:bodyPr wrap="square" rtlCol="0">
            <a:spAutoFit/>
          </a:bodyPr>
          <a:lstStyle/>
          <a:p>
            <a:r>
              <a:rPr lang="en-US" smtClean="0"/>
              <a:t>Statistical Analysis: </a:t>
            </a:r>
            <a:endParaRPr lang="en-IN"/>
          </a:p>
        </p:txBody>
      </p:sp>
    </p:spTree>
    <p:extLst>
      <p:ext uri="{BB962C8B-B14F-4D97-AF65-F5344CB8AC3E}">
        <p14:creationId xmlns:p14="http://schemas.microsoft.com/office/powerpoint/2010/main" val="3489519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1256" y="274318"/>
            <a:ext cx="11704319" cy="369332"/>
          </a:xfrm>
          <a:prstGeom prst="rect">
            <a:avLst/>
          </a:prstGeom>
          <a:noFill/>
        </p:spPr>
        <p:txBody>
          <a:bodyPr wrap="square" rtlCol="0">
            <a:spAutoFit/>
          </a:bodyPr>
          <a:lstStyle/>
          <a:p>
            <a:r>
              <a:rPr lang="en-US" dirty="0" smtClean="0"/>
              <a:t>Median:</a:t>
            </a:r>
            <a:endParaRPr lang="en-IN" dirty="0"/>
          </a:p>
        </p:txBody>
      </p:sp>
      <p:pic>
        <p:nvPicPr>
          <p:cNvPr id="5" name="Picture 4"/>
          <p:cNvPicPr>
            <a:picLocks noChangeAspect="1"/>
          </p:cNvPicPr>
          <p:nvPr/>
        </p:nvPicPr>
        <p:blipFill>
          <a:blip r:embed="rId2"/>
          <a:stretch>
            <a:fillRect/>
          </a:stretch>
        </p:blipFill>
        <p:spPr>
          <a:xfrm>
            <a:off x="261256" y="834262"/>
            <a:ext cx="11704319" cy="5788608"/>
          </a:xfrm>
          <a:prstGeom prst="rect">
            <a:avLst/>
          </a:prstGeom>
        </p:spPr>
      </p:pic>
    </p:spTree>
    <p:extLst>
      <p:ext uri="{BB962C8B-B14F-4D97-AF65-F5344CB8AC3E}">
        <p14:creationId xmlns:p14="http://schemas.microsoft.com/office/powerpoint/2010/main" val="8014008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6732" y="2259873"/>
            <a:ext cx="6335486" cy="2123658"/>
          </a:xfrm>
          <a:prstGeom prst="rect">
            <a:avLst/>
          </a:prstGeom>
          <a:noFill/>
        </p:spPr>
        <p:txBody>
          <a:bodyPr wrap="square" rtlCol="0">
            <a:spAutoFit/>
          </a:bodyPr>
          <a:lstStyle/>
          <a:p>
            <a:r>
              <a:rPr lang="en-US" sz="4400" dirty="0" smtClean="0">
                <a:latin typeface="Arial Black" panose="020B0A04020102020204" pitchFamily="34" charset="0"/>
              </a:rPr>
              <a:t>Graphical analysis </a:t>
            </a:r>
          </a:p>
          <a:p>
            <a:r>
              <a:rPr lang="en-US" sz="4400" dirty="0" smtClean="0">
                <a:latin typeface="Arial Black" panose="020B0A04020102020204" pitchFamily="34" charset="0"/>
              </a:rPr>
              <a:t>On the Data using </a:t>
            </a:r>
          </a:p>
          <a:p>
            <a:r>
              <a:rPr lang="en-US" sz="4400" dirty="0" smtClean="0">
                <a:latin typeface="Arial Black" panose="020B0A04020102020204" pitchFamily="34" charset="0"/>
              </a:rPr>
              <a:t>excel</a:t>
            </a:r>
            <a:endParaRPr lang="en-IN" sz="4400" dirty="0">
              <a:latin typeface="Arial Black" panose="020B0A04020102020204" pitchFamily="34" charset="0"/>
            </a:endParaRPr>
          </a:p>
        </p:txBody>
      </p:sp>
    </p:spTree>
    <p:extLst>
      <p:ext uri="{BB962C8B-B14F-4D97-AF65-F5344CB8AC3E}">
        <p14:creationId xmlns:p14="http://schemas.microsoft.com/office/powerpoint/2010/main" val="31784111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5132" y="1281601"/>
            <a:ext cx="11639006" cy="5213043"/>
          </a:xfrm>
          <a:prstGeom prst="rect">
            <a:avLst/>
          </a:prstGeom>
        </p:spPr>
      </p:pic>
      <p:sp>
        <p:nvSpPr>
          <p:cNvPr id="3" name="TextBox 2"/>
          <p:cNvSpPr txBox="1"/>
          <p:nvPr/>
        </p:nvSpPr>
        <p:spPr>
          <a:xfrm>
            <a:off x="274320" y="470263"/>
            <a:ext cx="11652069" cy="365760"/>
          </a:xfrm>
          <a:prstGeom prst="rect">
            <a:avLst/>
          </a:prstGeom>
          <a:noFill/>
        </p:spPr>
        <p:txBody>
          <a:bodyPr wrap="square" rtlCol="0">
            <a:spAutoFit/>
          </a:bodyPr>
          <a:lstStyle/>
          <a:p>
            <a:r>
              <a:rPr lang="en-US" smtClean="0"/>
              <a:t>Biggest client government sector</a:t>
            </a:r>
            <a:endParaRPr lang="en-IN"/>
          </a:p>
        </p:txBody>
      </p:sp>
    </p:spTree>
    <p:extLst>
      <p:ext uri="{BB962C8B-B14F-4D97-AF65-F5344CB8AC3E}">
        <p14:creationId xmlns:p14="http://schemas.microsoft.com/office/powerpoint/2010/main" val="30434796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7567" y="235132"/>
            <a:ext cx="11420516" cy="6420905"/>
          </a:xfrm>
          <a:prstGeom prst="rect">
            <a:avLst/>
          </a:prstGeom>
        </p:spPr>
      </p:pic>
    </p:spTree>
    <p:extLst>
      <p:ext uri="{BB962C8B-B14F-4D97-AF65-F5344CB8AC3E}">
        <p14:creationId xmlns:p14="http://schemas.microsoft.com/office/powerpoint/2010/main" val="16223388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09217" y="235132"/>
            <a:ext cx="11608067" cy="5773782"/>
          </a:xfrm>
          <a:prstGeom prst="rect">
            <a:avLst/>
          </a:prstGeom>
        </p:spPr>
      </p:pic>
    </p:spTree>
    <p:extLst>
      <p:ext uri="{BB962C8B-B14F-4D97-AF65-F5344CB8AC3E}">
        <p14:creationId xmlns:p14="http://schemas.microsoft.com/office/powerpoint/2010/main" val="35529846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5131" y="1072949"/>
            <a:ext cx="11494515" cy="5458479"/>
          </a:xfrm>
          <a:prstGeom prst="rect">
            <a:avLst/>
          </a:prstGeom>
        </p:spPr>
      </p:pic>
      <p:sp>
        <p:nvSpPr>
          <p:cNvPr id="3" name="TextBox 2"/>
          <p:cNvSpPr txBox="1"/>
          <p:nvPr/>
        </p:nvSpPr>
        <p:spPr>
          <a:xfrm>
            <a:off x="274320" y="378823"/>
            <a:ext cx="11665131" cy="369332"/>
          </a:xfrm>
          <a:prstGeom prst="rect">
            <a:avLst/>
          </a:prstGeom>
          <a:noFill/>
        </p:spPr>
        <p:txBody>
          <a:bodyPr wrap="square" rtlCol="0">
            <a:spAutoFit/>
          </a:bodyPr>
          <a:lstStyle/>
          <a:p>
            <a:r>
              <a:rPr lang="en-IN" dirty="0" smtClean="0"/>
              <a:t>Perform Graphical Analysis on the Data using Excel and Derive insights from it</a:t>
            </a:r>
            <a:r>
              <a:rPr lang="en-IN" dirty="0"/>
              <a:t>.</a:t>
            </a:r>
            <a:endParaRPr lang="en-IN" dirty="0"/>
          </a:p>
        </p:txBody>
      </p:sp>
    </p:spTree>
    <p:extLst>
      <p:ext uri="{BB962C8B-B14F-4D97-AF65-F5344CB8AC3E}">
        <p14:creationId xmlns:p14="http://schemas.microsoft.com/office/powerpoint/2010/main" val="27367905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8720" y="2233749"/>
            <a:ext cx="9575074" cy="1938992"/>
          </a:xfrm>
          <a:prstGeom prst="rect">
            <a:avLst/>
          </a:prstGeom>
          <a:noFill/>
        </p:spPr>
        <p:txBody>
          <a:bodyPr wrap="square" rtlCol="0">
            <a:spAutoFit/>
          </a:bodyPr>
          <a:lstStyle/>
          <a:p>
            <a:r>
              <a:rPr lang="en-US" sz="4000" dirty="0" smtClean="0">
                <a:latin typeface="Arial" panose="020B0604020202020204" pitchFamily="34" charset="0"/>
                <a:cs typeface="Arial" panose="020B0604020202020204" pitchFamily="34" charset="0"/>
              </a:rPr>
              <a:t>INSERT THE GIVEN DATA CSV FILE INTO THE MYSQL </a:t>
            </a:r>
          </a:p>
          <a:p>
            <a:r>
              <a:rPr lang="en-US" sz="4000" dirty="0" smtClean="0">
                <a:latin typeface="Arial" panose="020B0604020202020204" pitchFamily="34" charset="0"/>
                <a:cs typeface="Arial" panose="020B0604020202020204" pitchFamily="34" charset="0"/>
              </a:rPr>
              <a:t>(RUNNING QUERIES)</a:t>
            </a:r>
            <a:endParaRPr lang="en-IN" sz="4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86194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8787" y="300446"/>
            <a:ext cx="11298060" cy="6035040"/>
          </a:xfrm>
          <a:prstGeom prst="rect">
            <a:avLst/>
          </a:prstGeom>
        </p:spPr>
      </p:pic>
    </p:spTree>
    <p:extLst>
      <p:ext uri="{BB962C8B-B14F-4D97-AF65-F5344CB8AC3E}">
        <p14:creationId xmlns:p14="http://schemas.microsoft.com/office/powerpoint/2010/main" val="9086683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4583" y="2259874"/>
            <a:ext cx="8412480" cy="2123658"/>
          </a:xfrm>
          <a:prstGeom prst="rect">
            <a:avLst/>
          </a:prstGeom>
          <a:noFill/>
        </p:spPr>
        <p:txBody>
          <a:bodyPr wrap="square" rtlCol="0">
            <a:spAutoFit/>
          </a:bodyPr>
          <a:lstStyle/>
          <a:p>
            <a:r>
              <a:rPr lang="en-US" sz="4400" dirty="0" smtClean="0">
                <a:latin typeface="Arial Black" panose="020B0A04020102020204" pitchFamily="34" charset="0"/>
              </a:rPr>
              <a:t>Interactive dashboard by using visualization</a:t>
            </a:r>
          </a:p>
          <a:p>
            <a:r>
              <a:rPr lang="en-US" sz="4400" dirty="0" smtClean="0">
                <a:latin typeface="Arial Black" panose="020B0A04020102020204" pitchFamily="34" charset="0"/>
              </a:rPr>
              <a:t>Tools (Power bi)</a:t>
            </a:r>
            <a:endParaRPr lang="en-IN" sz="4400" dirty="0">
              <a:latin typeface="Arial Black" panose="020B0A04020102020204" pitchFamily="34" charset="0"/>
            </a:endParaRPr>
          </a:p>
        </p:txBody>
      </p:sp>
    </p:spTree>
    <p:extLst>
      <p:ext uri="{BB962C8B-B14F-4D97-AF65-F5344CB8AC3E}">
        <p14:creationId xmlns:p14="http://schemas.microsoft.com/office/powerpoint/2010/main" val="18930816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 y="236804"/>
            <a:ext cx="11978640" cy="6734696"/>
          </a:xfrm>
          <a:prstGeom prst="rect">
            <a:avLst/>
          </a:prstGeom>
        </p:spPr>
      </p:pic>
    </p:spTree>
    <p:extLst>
      <p:ext uri="{BB962C8B-B14F-4D97-AF65-F5344CB8AC3E}">
        <p14:creationId xmlns:p14="http://schemas.microsoft.com/office/powerpoint/2010/main" val="35012191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075" y="300445"/>
            <a:ext cx="11416936" cy="6418891"/>
          </a:xfrm>
          <a:prstGeom prst="rect">
            <a:avLst/>
          </a:prstGeom>
        </p:spPr>
      </p:pic>
    </p:spTree>
    <p:extLst>
      <p:ext uri="{BB962C8B-B14F-4D97-AF65-F5344CB8AC3E}">
        <p14:creationId xmlns:p14="http://schemas.microsoft.com/office/powerpoint/2010/main" val="9158862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446" y="170591"/>
            <a:ext cx="11625942" cy="6536400"/>
          </a:xfrm>
          <a:prstGeom prst="rect">
            <a:avLst/>
          </a:prstGeom>
        </p:spPr>
      </p:pic>
    </p:spTree>
    <p:extLst>
      <p:ext uri="{BB962C8B-B14F-4D97-AF65-F5344CB8AC3E}">
        <p14:creationId xmlns:p14="http://schemas.microsoft.com/office/powerpoint/2010/main" val="35532785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193" y="223740"/>
            <a:ext cx="11652070" cy="6477647"/>
          </a:xfrm>
          <a:prstGeom prst="rect">
            <a:avLst/>
          </a:prstGeom>
        </p:spPr>
      </p:pic>
    </p:spTree>
    <p:extLst>
      <p:ext uri="{BB962C8B-B14F-4D97-AF65-F5344CB8AC3E}">
        <p14:creationId xmlns:p14="http://schemas.microsoft.com/office/powerpoint/2010/main" val="12846180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193" y="210678"/>
            <a:ext cx="11351624" cy="6382171"/>
          </a:xfrm>
          <a:prstGeom prst="rect">
            <a:avLst/>
          </a:prstGeom>
        </p:spPr>
      </p:pic>
    </p:spTree>
    <p:extLst>
      <p:ext uri="{BB962C8B-B14F-4D97-AF65-F5344CB8AC3E}">
        <p14:creationId xmlns:p14="http://schemas.microsoft.com/office/powerpoint/2010/main" val="21762172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131" y="236803"/>
            <a:ext cx="11717383" cy="6389515"/>
          </a:xfrm>
          <a:prstGeom prst="rect">
            <a:avLst/>
          </a:prstGeom>
        </p:spPr>
      </p:pic>
    </p:spTree>
    <p:extLst>
      <p:ext uri="{BB962C8B-B14F-4D97-AF65-F5344CB8AC3E}">
        <p14:creationId xmlns:p14="http://schemas.microsoft.com/office/powerpoint/2010/main" val="16254700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131" y="236804"/>
            <a:ext cx="11691258" cy="6418892"/>
          </a:xfrm>
          <a:prstGeom prst="rect">
            <a:avLst/>
          </a:prstGeom>
        </p:spPr>
      </p:pic>
    </p:spTree>
    <p:extLst>
      <p:ext uri="{BB962C8B-B14F-4D97-AF65-F5344CB8AC3E}">
        <p14:creationId xmlns:p14="http://schemas.microsoft.com/office/powerpoint/2010/main" val="26074136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25634" y="3030581"/>
            <a:ext cx="8399417" cy="830997"/>
          </a:xfrm>
          <a:prstGeom prst="rect">
            <a:avLst/>
          </a:prstGeom>
          <a:noFill/>
        </p:spPr>
        <p:txBody>
          <a:bodyPr wrap="square" rtlCol="0">
            <a:spAutoFit/>
          </a:bodyPr>
          <a:lstStyle/>
          <a:p>
            <a:r>
              <a:rPr lang="en-US" sz="4800" dirty="0" smtClean="0">
                <a:latin typeface="Arial Black" panose="020B0A04020102020204" pitchFamily="34" charset="0"/>
              </a:rPr>
              <a:t>Project Summary</a:t>
            </a:r>
            <a:endParaRPr lang="en-IN" sz="4800" dirty="0">
              <a:latin typeface="Arial Black" panose="020B0A04020102020204" pitchFamily="34" charset="0"/>
            </a:endParaRPr>
          </a:p>
        </p:txBody>
      </p:sp>
    </p:spTree>
    <p:extLst>
      <p:ext uri="{BB962C8B-B14F-4D97-AF65-F5344CB8AC3E}">
        <p14:creationId xmlns:p14="http://schemas.microsoft.com/office/powerpoint/2010/main" val="5462177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858" y="329085"/>
            <a:ext cx="10058400" cy="1199269"/>
          </a:xfrm>
        </p:spPr>
        <p:txBody>
          <a:bodyPr>
            <a:normAutofit/>
          </a:bodyPr>
          <a:lstStyle/>
          <a:p>
            <a:r>
              <a:rPr lang="en-US" sz="2000" dirty="0">
                <a:solidFill>
                  <a:schemeClr val="accent3">
                    <a:lumMod val="75000"/>
                  </a:schemeClr>
                </a:solidFill>
                <a:latin typeface="Arial Black" panose="020B0A04020102020204" pitchFamily="34" charset="0"/>
              </a:rPr>
              <a:t>Create a Visually pleasing Dashboard report by following the rules of making the Dashboard. To explore </a:t>
            </a:r>
            <a:r>
              <a:rPr lang="en-US" sz="2000" dirty="0" smtClean="0">
                <a:solidFill>
                  <a:schemeClr val="accent3">
                    <a:lumMod val="75000"/>
                  </a:schemeClr>
                </a:solidFill>
                <a:latin typeface="Arial Black" panose="020B0A04020102020204" pitchFamily="34" charset="0"/>
              </a:rPr>
              <a:t>and analyze </a:t>
            </a:r>
            <a:r>
              <a:rPr lang="en-US" sz="2000" dirty="0">
                <a:solidFill>
                  <a:schemeClr val="accent3">
                    <a:lumMod val="75000"/>
                  </a:schemeClr>
                </a:solidFill>
                <a:latin typeface="Arial Black" panose="020B0A04020102020204" pitchFamily="34" charset="0"/>
              </a:rPr>
              <a:t>the Western country data using Excel, you can follow these steps to create a project</a:t>
            </a:r>
            <a:endParaRPr lang="en-IN" sz="2000" dirty="0">
              <a:solidFill>
                <a:schemeClr val="accent3">
                  <a:lumMod val="75000"/>
                </a:schemeClr>
              </a:solidFill>
              <a:latin typeface="Arial Black" panose="020B0A04020102020204" pitchFamily="34" charset="0"/>
            </a:endParaRPr>
          </a:p>
        </p:txBody>
      </p:sp>
      <p:sp>
        <p:nvSpPr>
          <p:cNvPr id="3" name="Content Placeholder 2"/>
          <p:cNvSpPr>
            <a:spLocks noGrp="1"/>
          </p:cNvSpPr>
          <p:nvPr>
            <p:ph idx="1"/>
          </p:nvPr>
        </p:nvSpPr>
        <p:spPr>
          <a:xfrm>
            <a:off x="870858" y="1645919"/>
            <a:ext cx="10624456" cy="4715691"/>
          </a:xfrm>
        </p:spPr>
        <p:txBody>
          <a:bodyPr>
            <a:noAutofit/>
          </a:bodyPr>
          <a:lstStyle/>
          <a:p>
            <a:pPr marL="0" indent="0">
              <a:buNone/>
            </a:pPr>
            <a:r>
              <a:rPr lang="en-US" sz="1200" b="1" dirty="0" smtClean="0">
                <a:latin typeface="Arial" panose="020B0604020202020204" pitchFamily="34" charset="0"/>
                <a:cs typeface="Arial" panose="020B0604020202020204" pitchFamily="34" charset="0"/>
              </a:rPr>
              <a:t>Import </a:t>
            </a:r>
            <a:r>
              <a:rPr lang="en-US" sz="1200" b="1" dirty="0">
                <a:latin typeface="Arial" panose="020B0604020202020204" pitchFamily="34" charset="0"/>
                <a:cs typeface="Arial" panose="020B0604020202020204" pitchFamily="34" charset="0"/>
              </a:rPr>
              <a:t>the data</a:t>
            </a:r>
            <a:r>
              <a:rPr lang="en-US" sz="1200" dirty="0">
                <a:latin typeface="Arial" panose="020B0604020202020204" pitchFamily="34" charset="0"/>
                <a:cs typeface="Arial" panose="020B0604020202020204" pitchFamily="34" charset="0"/>
              </a:rPr>
              <a:t>: Obtain the dataset you want to analyze and save it in a suitable format (e.g., CSV, XLSX). Open Excel and </a:t>
            </a:r>
            <a:r>
              <a:rPr lang="en-US" sz="1200" dirty="0" err="1">
                <a:latin typeface="Arial" panose="020B0604020202020204" pitchFamily="34" charset="0"/>
                <a:cs typeface="Arial" panose="020B0604020202020204" pitchFamily="34" charset="0"/>
              </a:rPr>
              <a:t>importthe</a:t>
            </a:r>
            <a:r>
              <a:rPr lang="en-US" sz="1200" dirty="0">
                <a:latin typeface="Arial" panose="020B0604020202020204" pitchFamily="34" charset="0"/>
                <a:cs typeface="Arial" panose="020B0604020202020204" pitchFamily="34" charset="0"/>
              </a:rPr>
              <a:t> data into a new workbook by selecting "File"&gt; "Open" or "File"&gt; "Import</a:t>
            </a:r>
            <a:r>
              <a:rPr lang="en-US" sz="1200" dirty="0" smtClean="0">
                <a:latin typeface="Arial" panose="020B0604020202020204" pitchFamily="34" charset="0"/>
                <a:cs typeface="Arial" panose="020B0604020202020204" pitchFamily="34" charset="0"/>
              </a:rPr>
              <a:t>.“</a:t>
            </a:r>
          </a:p>
          <a:p>
            <a:pPr marL="228600" indent="-228600">
              <a:buFont typeface="+mj-lt"/>
              <a:buAutoNum type="arabicPeriod"/>
            </a:pPr>
            <a:r>
              <a:rPr lang="en-US" sz="1200" b="1" dirty="0" smtClean="0">
                <a:latin typeface="Arial" panose="020B0604020202020204" pitchFamily="34" charset="0"/>
                <a:cs typeface="Arial" panose="020B0604020202020204" pitchFamily="34" charset="0"/>
              </a:rPr>
              <a:t>Data </a:t>
            </a:r>
            <a:r>
              <a:rPr lang="en-US" sz="1200" b="1" dirty="0">
                <a:latin typeface="Arial" panose="020B0604020202020204" pitchFamily="34" charset="0"/>
                <a:cs typeface="Arial" panose="020B0604020202020204" pitchFamily="34" charset="0"/>
              </a:rPr>
              <a:t>cleaning and formatting</a:t>
            </a:r>
            <a:r>
              <a:rPr lang="en-US" sz="1200" dirty="0">
                <a:latin typeface="Arial" panose="020B0604020202020204" pitchFamily="34" charset="0"/>
                <a:cs typeface="Arial" panose="020B0604020202020204" pitchFamily="34" charset="0"/>
              </a:rPr>
              <a:t>: Inspect the data for any inconsistencies, missing values, or formatting issues. Clean the data </a:t>
            </a:r>
            <a:r>
              <a:rPr lang="en-US" sz="1200" dirty="0" err="1">
                <a:latin typeface="Arial" panose="020B0604020202020204" pitchFamily="34" charset="0"/>
                <a:cs typeface="Arial" panose="020B0604020202020204" pitchFamily="34" charset="0"/>
              </a:rPr>
              <a:t>byremoving</a:t>
            </a:r>
            <a:r>
              <a:rPr lang="en-US" sz="1200" dirty="0">
                <a:latin typeface="Arial" panose="020B0604020202020204" pitchFamily="34" charset="0"/>
                <a:cs typeface="Arial" panose="020B0604020202020204" pitchFamily="34" charset="0"/>
              </a:rPr>
              <a:t> or filling in </a:t>
            </a:r>
            <a:r>
              <a:rPr lang="en-US" sz="1200" dirty="0" smtClean="0">
                <a:latin typeface="Arial" panose="020B0604020202020204" pitchFamily="34" charset="0"/>
                <a:cs typeface="Arial" panose="020B0604020202020204" pitchFamily="34" charset="0"/>
              </a:rPr>
              <a:t>     missing </a:t>
            </a:r>
            <a:r>
              <a:rPr lang="en-US" sz="1200" dirty="0">
                <a:latin typeface="Arial" panose="020B0604020202020204" pitchFamily="34" charset="0"/>
                <a:cs typeface="Arial" panose="020B0604020202020204" pitchFamily="34" charset="0"/>
              </a:rPr>
              <a:t>values, correcting errors, and ensuring consistent formatting for each column (e.g., dates, </a:t>
            </a:r>
            <a:r>
              <a:rPr lang="en-US" sz="1200" dirty="0" err="1">
                <a:latin typeface="Arial" panose="020B0604020202020204" pitchFamily="34" charset="0"/>
                <a:cs typeface="Arial" panose="020B0604020202020204" pitchFamily="34" charset="0"/>
              </a:rPr>
              <a:t>numbers,text</a:t>
            </a:r>
            <a:r>
              <a:rPr lang="en-US" sz="1200" dirty="0">
                <a:latin typeface="Arial" panose="020B0604020202020204" pitchFamily="34" charset="0"/>
                <a:cs typeface="Arial" panose="020B0604020202020204" pitchFamily="34" charset="0"/>
              </a:rPr>
              <a:t>).2</a:t>
            </a:r>
            <a:r>
              <a:rPr lang="en-US" sz="1200" dirty="0" smtClean="0">
                <a:latin typeface="Arial" panose="020B0604020202020204" pitchFamily="34" charset="0"/>
                <a:cs typeface="Arial" panose="020B0604020202020204" pitchFamily="34" charset="0"/>
              </a:rPr>
              <a:t>.</a:t>
            </a:r>
          </a:p>
          <a:p>
            <a:pPr marL="228600" indent="-228600">
              <a:buFont typeface="+mj-lt"/>
              <a:buAutoNum type="arabicPeriod"/>
            </a:pPr>
            <a:r>
              <a:rPr lang="en-US" sz="1200" b="1" dirty="0" smtClean="0">
                <a:latin typeface="Arial" panose="020B0604020202020204" pitchFamily="34" charset="0"/>
                <a:cs typeface="Arial" panose="020B0604020202020204" pitchFamily="34" charset="0"/>
              </a:rPr>
              <a:t>Data </a:t>
            </a:r>
            <a:r>
              <a:rPr lang="en-US" sz="1200" b="1" dirty="0">
                <a:latin typeface="Arial" panose="020B0604020202020204" pitchFamily="34" charset="0"/>
                <a:cs typeface="Arial" panose="020B0604020202020204" pitchFamily="34" charset="0"/>
              </a:rPr>
              <a:t>exploration</a:t>
            </a:r>
            <a:r>
              <a:rPr lang="en-US" sz="1200" dirty="0">
                <a:latin typeface="Arial" panose="020B0604020202020204" pitchFamily="34" charset="0"/>
                <a:cs typeface="Arial" panose="020B0604020202020204" pitchFamily="34" charset="0"/>
              </a:rPr>
              <a:t>: Start exploring the dataset by examining the columns, their meanings, and the overall structure of the data. Use Excel's features such as sorting, filtering, and conditional formatting to gain initial insights. Generate summary statistics (e.g., mean, median, standard deviation) for numerical columns and calculate frequencies for categorical variables. </a:t>
            </a:r>
            <a:endParaRPr lang="en-US" sz="1200" dirty="0" smtClean="0">
              <a:latin typeface="Arial" panose="020B0604020202020204" pitchFamily="34" charset="0"/>
              <a:cs typeface="Arial" panose="020B0604020202020204" pitchFamily="34" charset="0"/>
            </a:endParaRPr>
          </a:p>
          <a:p>
            <a:pPr marL="228600" indent="-228600">
              <a:buFont typeface="+mj-lt"/>
              <a:buAutoNum type="arabicPeriod"/>
            </a:pPr>
            <a:r>
              <a:rPr lang="en-US" sz="1200" b="1" dirty="0" smtClean="0">
                <a:latin typeface="Arial" panose="020B0604020202020204" pitchFamily="34" charset="0"/>
                <a:cs typeface="Arial" panose="020B0604020202020204" pitchFamily="34" charset="0"/>
              </a:rPr>
              <a:t>Data visualization</a:t>
            </a:r>
            <a:r>
              <a:rPr lang="en-US" sz="1200" dirty="0" smtClean="0">
                <a:latin typeface="Arial" panose="020B0604020202020204" pitchFamily="34" charset="0"/>
                <a:cs typeface="Arial" panose="020B0604020202020204" pitchFamily="34" charset="0"/>
              </a:rPr>
              <a:t>: Create visualizations to better understand the data. Excel offers various chart types (e.g., bar charts, line charts, scatter plots) to visualize relationships between variables. Select appropriate charts based on the nature of the data and the insights you want to gain. For example, you can compare GDP growth rates across countries or visualize population </a:t>
            </a:r>
            <a:r>
              <a:rPr lang="en-US" sz="1200" dirty="0" err="1" smtClean="0">
                <a:latin typeface="Arial" panose="020B0604020202020204" pitchFamily="34" charset="0"/>
                <a:cs typeface="Arial" panose="020B0604020202020204" pitchFamily="34" charset="0"/>
              </a:rPr>
              <a:t>trendsover</a:t>
            </a:r>
            <a:r>
              <a:rPr lang="en-US" sz="1200" dirty="0" smtClean="0">
                <a:latin typeface="Arial" panose="020B0604020202020204" pitchFamily="34" charset="0"/>
                <a:cs typeface="Arial" panose="020B0604020202020204" pitchFamily="34" charset="0"/>
              </a:rPr>
              <a:t> time.</a:t>
            </a:r>
          </a:p>
          <a:p>
            <a:pPr marL="228600" indent="-228600">
              <a:buFont typeface="+mj-lt"/>
              <a:buAutoNum type="arabicPeriod"/>
            </a:pPr>
            <a:r>
              <a:rPr lang="en-US" sz="1200" b="1" dirty="0" smtClean="0">
                <a:latin typeface="Arial" panose="020B0604020202020204" pitchFamily="34" charset="0"/>
                <a:cs typeface="Arial" panose="020B0604020202020204" pitchFamily="34" charset="0"/>
              </a:rPr>
              <a:t>Statistical </a:t>
            </a:r>
            <a:r>
              <a:rPr lang="en-US" sz="1200" b="1" dirty="0">
                <a:latin typeface="Arial" panose="020B0604020202020204" pitchFamily="34" charset="0"/>
                <a:cs typeface="Arial" panose="020B0604020202020204" pitchFamily="34" charset="0"/>
              </a:rPr>
              <a:t>analysis</a:t>
            </a:r>
            <a:r>
              <a:rPr lang="en-US" sz="1200" dirty="0">
                <a:latin typeface="Arial" panose="020B0604020202020204" pitchFamily="34" charset="0"/>
                <a:cs typeface="Arial" panose="020B0604020202020204" pitchFamily="34" charset="0"/>
              </a:rPr>
              <a:t>: Perform statistical analysis to uncover relationships and patterns in the data. Excel provides a range of functions and formulas for calculations, such as correlations, regressions, and hypothesis testing. Utilize these tools to explore the dataset further and draw meaningful conclusions. </a:t>
            </a:r>
            <a:endParaRPr lang="en-US" sz="1200" dirty="0" smtClean="0">
              <a:latin typeface="Arial" panose="020B0604020202020204" pitchFamily="34" charset="0"/>
              <a:cs typeface="Arial" panose="020B0604020202020204" pitchFamily="34" charset="0"/>
            </a:endParaRPr>
          </a:p>
          <a:p>
            <a:pPr marL="228600" indent="-228600">
              <a:buFont typeface="+mj-lt"/>
              <a:buAutoNum type="arabicPeriod"/>
            </a:pPr>
            <a:r>
              <a:rPr lang="en-US" sz="1200" b="1" dirty="0" smtClean="0">
                <a:latin typeface="Arial" panose="020B0604020202020204" pitchFamily="34" charset="0"/>
                <a:cs typeface="Arial" panose="020B0604020202020204" pitchFamily="34" charset="0"/>
              </a:rPr>
              <a:t>Interpretation </a:t>
            </a:r>
            <a:r>
              <a:rPr lang="en-US" sz="1200" b="1" dirty="0">
                <a:latin typeface="Arial" panose="020B0604020202020204" pitchFamily="34" charset="0"/>
                <a:cs typeface="Arial" panose="020B0604020202020204" pitchFamily="34" charset="0"/>
              </a:rPr>
              <a:t>and summary</a:t>
            </a:r>
            <a:r>
              <a:rPr lang="en-US" sz="1200" dirty="0">
                <a:latin typeface="Arial" panose="020B0604020202020204" pitchFamily="34" charset="0"/>
                <a:cs typeface="Arial" panose="020B0604020202020204" pitchFamily="34" charset="0"/>
              </a:rPr>
              <a:t>: Once you have explored and analyzed the data, summarize your findings. Identify key </a:t>
            </a:r>
            <a:r>
              <a:rPr lang="en-US" sz="1200" dirty="0" err="1">
                <a:latin typeface="Arial" panose="020B0604020202020204" pitchFamily="34" charset="0"/>
                <a:cs typeface="Arial" panose="020B0604020202020204" pitchFamily="34" charset="0"/>
              </a:rPr>
              <a:t>trends,patterns</a:t>
            </a:r>
            <a:r>
              <a:rPr lang="en-US" sz="1200" dirty="0">
                <a:latin typeface="Arial" panose="020B0604020202020204" pitchFamily="34" charset="0"/>
                <a:cs typeface="Arial" panose="020B0604020202020204" pitchFamily="34" charset="0"/>
              </a:rPr>
              <a:t>, and insights you have discovered during the analysis. Highlight any interesting observations or correlations you have encountered. Consider the context of the Western country dataset and relate your findings to the research or project objectives. </a:t>
            </a:r>
            <a:endParaRPr lang="en-US" sz="1200" dirty="0" smtClean="0">
              <a:latin typeface="Arial" panose="020B0604020202020204" pitchFamily="34" charset="0"/>
              <a:cs typeface="Arial" panose="020B0604020202020204" pitchFamily="34" charset="0"/>
            </a:endParaRPr>
          </a:p>
          <a:p>
            <a:pPr marL="228600" indent="-228600">
              <a:buFont typeface="+mj-lt"/>
              <a:buAutoNum type="arabicPeriod"/>
            </a:pPr>
            <a:r>
              <a:rPr lang="en-US" sz="1200" b="1" dirty="0" smtClean="0">
                <a:latin typeface="Arial" panose="020B0604020202020204" pitchFamily="34" charset="0"/>
                <a:cs typeface="Arial" panose="020B0604020202020204" pitchFamily="34" charset="0"/>
              </a:rPr>
              <a:t>Data </a:t>
            </a:r>
            <a:r>
              <a:rPr lang="en-US" sz="1200" b="1" dirty="0">
                <a:latin typeface="Arial" panose="020B0604020202020204" pitchFamily="34" charset="0"/>
                <a:cs typeface="Arial" panose="020B0604020202020204" pitchFamily="34" charset="0"/>
              </a:rPr>
              <a:t>reporting:</a:t>
            </a:r>
            <a:r>
              <a:rPr lang="en-US" sz="1200" dirty="0">
                <a:latin typeface="Arial" panose="020B0604020202020204" pitchFamily="34" charset="0"/>
                <a:cs typeface="Arial" panose="020B0604020202020204" pitchFamily="34" charset="0"/>
              </a:rPr>
              <a:t> Present your findings in a concise and visually appealing manner. Create tables, charts, and graphs to showcase the most relevant information. Use Excel's formatting options to enhance the visual appearance of your report. Consider including captions, titles, and explanatory text to provide context for your visualizations. </a:t>
            </a:r>
            <a:endParaRPr lang="en-US" sz="1200" dirty="0" smtClean="0">
              <a:latin typeface="Arial" panose="020B0604020202020204" pitchFamily="34" charset="0"/>
              <a:cs typeface="Arial" panose="020B0604020202020204" pitchFamily="34" charset="0"/>
            </a:endParaRPr>
          </a:p>
          <a:p>
            <a:pPr marL="228600" indent="-228600">
              <a:buFont typeface="+mj-lt"/>
              <a:buAutoNum type="arabicPeriod"/>
            </a:pPr>
            <a:r>
              <a:rPr lang="en-US" sz="1200" dirty="0" smtClean="0">
                <a:latin typeface="Arial" panose="020B0604020202020204" pitchFamily="34" charset="0"/>
                <a:cs typeface="Arial" panose="020B0604020202020204" pitchFamily="34" charset="0"/>
              </a:rPr>
              <a:t>Remember </a:t>
            </a:r>
            <a:r>
              <a:rPr lang="en-US" sz="1200" dirty="0">
                <a:latin typeface="Arial" panose="020B0604020202020204" pitchFamily="34" charset="0"/>
                <a:cs typeface="Arial" panose="020B0604020202020204" pitchFamily="34" charset="0"/>
              </a:rPr>
              <a:t>to save your Excel workbook periodically during the project to avoid data loss.</a:t>
            </a:r>
            <a:endParaRPr lang="en-IN"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99963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64377" y="642594"/>
            <a:ext cx="6309360" cy="742069"/>
          </a:xfrm>
        </p:spPr>
        <p:txBody>
          <a:bodyPr>
            <a:normAutofit/>
          </a:bodyPr>
          <a:lstStyle/>
          <a:p>
            <a:pPr algn="ctr"/>
            <a:r>
              <a:rPr lang="en-IN" sz="2000" b="1" dirty="0" smtClean="0">
                <a:latin typeface="Arial" panose="020B0604020202020204" pitchFamily="34" charset="0"/>
                <a:cs typeface="Arial" panose="020B0604020202020204" pitchFamily="34" charset="0"/>
              </a:rPr>
              <a:t>SUMMARY</a:t>
            </a:r>
            <a:endParaRPr lang="en-IN" sz="2000" b="1" dirty="0">
              <a:latin typeface="Arial" panose="020B0604020202020204" pitchFamily="34" charset="0"/>
              <a:cs typeface="Arial" panose="020B0604020202020204" pitchFamily="34" charset="0"/>
            </a:endParaRPr>
          </a:p>
        </p:txBody>
      </p:sp>
      <p:sp>
        <p:nvSpPr>
          <p:cNvPr id="5" name="Content Placeholder 4"/>
          <p:cNvSpPr>
            <a:spLocks noGrp="1"/>
          </p:cNvSpPr>
          <p:nvPr>
            <p:ph idx="1"/>
          </p:nvPr>
        </p:nvSpPr>
        <p:spPr/>
        <p:txBody>
          <a:bodyPr>
            <a:normAutofit fontScale="85000" lnSpcReduction="20000"/>
          </a:bodyPr>
          <a:lstStyle/>
          <a:p>
            <a:pPr marL="342900" indent="-342900">
              <a:buFont typeface="+mj-lt"/>
              <a:buAutoNum type="arabicPeriod"/>
            </a:pPr>
            <a:r>
              <a:rPr lang="en-US" dirty="0"/>
              <a:t>Retrieve the necessary data from your SQL database using SQL queries in MySQL Workbench</a:t>
            </a:r>
            <a:r>
              <a:rPr lang="en-US" dirty="0" smtClean="0"/>
              <a:t>.</a:t>
            </a:r>
          </a:p>
          <a:p>
            <a:pPr marL="342900" indent="-342900">
              <a:buFont typeface="+mj-lt"/>
              <a:buAutoNum type="arabicPeriod"/>
            </a:pPr>
            <a:r>
              <a:rPr lang="en-US" dirty="0" smtClean="0"/>
              <a:t>Export </a:t>
            </a:r>
            <a:r>
              <a:rPr lang="en-US" dirty="0"/>
              <a:t>the retrieved data as a CSV file from MySQL Workbench. To do this, right-click on the query result grid and choose "Export Result Set" or a similar option. Select the CSV format and provide a file name for the exported </a:t>
            </a:r>
            <a:r>
              <a:rPr lang="en-US" dirty="0" smtClean="0"/>
              <a:t>data.</a:t>
            </a:r>
          </a:p>
          <a:p>
            <a:pPr marL="342900" indent="-342900">
              <a:buFont typeface="+mj-lt"/>
              <a:buAutoNum type="arabicPeriod"/>
            </a:pPr>
            <a:r>
              <a:rPr lang="en-US" dirty="0"/>
              <a:t>Open PowerPoint and create a new </a:t>
            </a:r>
            <a:r>
              <a:rPr lang="en-US" dirty="0" smtClean="0"/>
              <a:t>presentation.</a:t>
            </a:r>
          </a:p>
          <a:p>
            <a:pPr marL="342900" indent="-342900">
              <a:buFont typeface="+mj-lt"/>
              <a:buAutoNum type="arabicPeriod"/>
            </a:pPr>
            <a:r>
              <a:rPr lang="en-US" dirty="0"/>
              <a:t>Navigate to the "Insert" tab and choose "Table" to insert a table into your slide</a:t>
            </a:r>
            <a:r>
              <a:rPr lang="en-US" dirty="0" smtClean="0"/>
              <a:t>.</a:t>
            </a:r>
          </a:p>
          <a:p>
            <a:pPr marL="342900" indent="-342900">
              <a:buFont typeface="+mj-lt"/>
              <a:buAutoNum type="arabicPeriod"/>
            </a:pPr>
            <a:r>
              <a:rPr lang="en-US" dirty="0" smtClean="0"/>
              <a:t>In </a:t>
            </a:r>
            <a:r>
              <a:rPr lang="en-US" dirty="0"/>
              <a:t>the "Insert Table" dialog box, specify the number of rows and columns that match your </a:t>
            </a:r>
            <a:r>
              <a:rPr lang="en-US" dirty="0" smtClean="0"/>
              <a:t>data.</a:t>
            </a:r>
          </a:p>
          <a:p>
            <a:pPr marL="342900" indent="-342900">
              <a:buFont typeface="+mj-lt"/>
              <a:buAutoNum type="arabicPeriod"/>
            </a:pPr>
            <a:r>
              <a:rPr lang="en-US" dirty="0" smtClean="0"/>
              <a:t>Open </a:t>
            </a:r>
            <a:r>
              <a:rPr lang="en-US" dirty="0"/>
              <a:t>the exported CSV file containing your SQL Workbench data</a:t>
            </a:r>
            <a:r>
              <a:rPr lang="en-US" dirty="0" smtClean="0"/>
              <a:t>.</a:t>
            </a:r>
          </a:p>
          <a:p>
            <a:pPr marL="342900" indent="-342900">
              <a:buFont typeface="+mj-lt"/>
              <a:buAutoNum type="arabicPeriod"/>
            </a:pPr>
            <a:r>
              <a:rPr lang="en-US" dirty="0"/>
              <a:t>Select all the data in the CSV file (</a:t>
            </a:r>
            <a:r>
              <a:rPr lang="en-US" dirty="0" err="1"/>
              <a:t>Ctrl+A</a:t>
            </a:r>
            <a:r>
              <a:rPr lang="en-US" dirty="0"/>
              <a:t>) and copy it (</a:t>
            </a:r>
            <a:r>
              <a:rPr lang="en-US" dirty="0" err="1"/>
              <a:t>Ctrl+C</a:t>
            </a:r>
            <a:r>
              <a:rPr lang="en-US" dirty="0" smtClean="0"/>
              <a:t>).</a:t>
            </a:r>
          </a:p>
          <a:p>
            <a:pPr marL="342900" indent="-342900">
              <a:buFont typeface="+mj-lt"/>
              <a:buAutoNum type="arabicPeriod"/>
            </a:pPr>
            <a:r>
              <a:rPr lang="en-US" dirty="0"/>
              <a:t>Paste the copied data into the PowerPoint table by clicking in the top-left cell and selecting Paste" (</a:t>
            </a:r>
            <a:r>
              <a:rPr lang="en-US" dirty="0" err="1"/>
              <a:t>Ctrl+V</a:t>
            </a:r>
            <a:r>
              <a:rPr lang="en-US" dirty="0" smtClean="0"/>
              <a:t>).</a:t>
            </a:r>
          </a:p>
          <a:p>
            <a:pPr marL="342900" indent="-342900">
              <a:buFont typeface="+mj-lt"/>
              <a:buAutoNum type="arabicPeriod"/>
            </a:pPr>
            <a:r>
              <a:rPr lang="en-US" dirty="0" smtClean="0"/>
              <a:t>Customize </a:t>
            </a:r>
            <a:r>
              <a:rPr lang="en-US" dirty="0"/>
              <a:t>the appearance and formatting of the table in PowerPoint as desired</a:t>
            </a:r>
            <a:r>
              <a:rPr lang="en-US" dirty="0" smtClean="0"/>
              <a:t>.</a:t>
            </a:r>
          </a:p>
          <a:p>
            <a:pPr marL="342900" indent="-342900">
              <a:buFont typeface="+mj-lt"/>
              <a:buAutoNum type="arabicPeriod"/>
            </a:pPr>
            <a:r>
              <a:rPr lang="en-US" dirty="0" smtClean="0"/>
              <a:t>Repeat </a:t>
            </a:r>
            <a:r>
              <a:rPr lang="en-US" dirty="0"/>
              <a:t>the above steps for any additional data or slides you want to include in your PowerPoint </a:t>
            </a:r>
            <a:r>
              <a:rPr lang="en-US" dirty="0" smtClean="0"/>
              <a:t>summary.</a:t>
            </a:r>
            <a:endParaRPr lang="en-IN" dirty="0"/>
          </a:p>
        </p:txBody>
      </p:sp>
    </p:spTree>
    <p:extLst>
      <p:ext uri="{BB962C8B-B14F-4D97-AF65-F5344CB8AC3E}">
        <p14:creationId xmlns:p14="http://schemas.microsoft.com/office/powerpoint/2010/main" val="9627713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Summary</a:t>
            </a:r>
            <a:endParaRPr lang="en-IN" dirty="0"/>
          </a:p>
        </p:txBody>
      </p:sp>
      <p:sp>
        <p:nvSpPr>
          <p:cNvPr id="3" name="Content Placeholder 2"/>
          <p:cNvSpPr>
            <a:spLocks noGrp="1"/>
          </p:cNvSpPr>
          <p:nvPr>
            <p:ph idx="1"/>
          </p:nvPr>
        </p:nvSpPr>
        <p:spPr/>
        <p:txBody>
          <a:bodyPr/>
          <a:lstStyle/>
          <a:p>
            <a:r>
              <a:rPr lang="en-US" b="1" dirty="0" smtClean="0"/>
              <a:t>Dataset </a:t>
            </a:r>
            <a:r>
              <a:rPr lang="en-US" b="1" dirty="0"/>
              <a:t>Description: </a:t>
            </a:r>
            <a:r>
              <a:rPr lang="en-US" dirty="0"/>
              <a:t>Provide a brief description of the dataset, including the source of the data, the number of </a:t>
            </a:r>
            <a:r>
              <a:rPr lang="en-US" dirty="0" smtClean="0"/>
              <a:t>rows and </a:t>
            </a:r>
            <a:r>
              <a:rPr lang="en-US" dirty="0"/>
              <a:t>columns, and the time period covered</a:t>
            </a:r>
            <a:r>
              <a:rPr lang="en-US" dirty="0" smtClean="0"/>
              <a:t>.</a:t>
            </a:r>
          </a:p>
          <a:p>
            <a:r>
              <a:rPr lang="en-US" b="1" dirty="0" smtClean="0"/>
              <a:t>Key </a:t>
            </a:r>
            <a:r>
              <a:rPr lang="en-US" b="1" dirty="0"/>
              <a:t>Variables: </a:t>
            </a:r>
            <a:r>
              <a:rPr lang="en-US" dirty="0"/>
              <a:t>Identify the main variables or columns in the dataset that are relevant to the analysis and </a:t>
            </a:r>
            <a:r>
              <a:rPr lang="en-US" dirty="0" smtClean="0"/>
              <a:t>insights.</a:t>
            </a:r>
          </a:p>
          <a:p>
            <a:r>
              <a:rPr lang="en-US" b="1" dirty="0" smtClean="0"/>
              <a:t>Data </a:t>
            </a:r>
            <a:r>
              <a:rPr lang="en-US" b="1" dirty="0"/>
              <a:t>Insights: </a:t>
            </a:r>
            <a:r>
              <a:rPr lang="en-US" dirty="0"/>
              <a:t>Summarize the main findings or insights obtained from the analysis. This may include trends, patterns, correlations, or anomalies discovered in the data</a:t>
            </a:r>
            <a:r>
              <a:rPr lang="en-US" dirty="0" smtClean="0"/>
              <a:t>.</a:t>
            </a:r>
          </a:p>
          <a:p>
            <a:r>
              <a:rPr lang="en-US" b="1" dirty="0" smtClean="0"/>
              <a:t>Statistical </a:t>
            </a:r>
            <a:r>
              <a:rPr lang="en-US" b="1" dirty="0"/>
              <a:t>Analysis: </a:t>
            </a:r>
            <a:r>
              <a:rPr lang="en-US" dirty="0"/>
              <a:t>Highlight any statistical analysis performed on the data, such as descriptive statistics, measures of central tendency, variability, or hypothesis testing results if applicable</a:t>
            </a:r>
            <a:r>
              <a:rPr lang="en-US" dirty="0" smtClean="0"/>
              <a:t>.</a:t>
            </a:r>
          </a:p>
          <a:p>
            <a:r>
              <a:rPr lang="en-US" b="1" dirty="0"/>
              <a:t>Data Cleaning: </a:t>
            </a:r>
            <a:r>
              <a:rPr lang="en-US" dirty="0"/>
              <a:t>Mention any data cleaning steps undertaken to address missing values, outliers, or inconsistencies in the dataset.</a:t>
            </a:r>
          </a:p>
          <a:p>
            <a:endParaRPr lang="en-IN" dirty="0"/>
          </a:p>
        </p:txBody>
      </p:sp>
    </p:spTree>
    <p:extLst>
      <p:ext uri="{BB962C8B-B14F-4D97-AF65-F5344CB8AC3E}">
        <p14:creationId xmlns:p14="http://schemas.microsoft.com/office/powerpoint/2010/main" val="15673905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Summary</a:t>
            </a:r>
            <a:endParaRPr lang="en-IN" dirty="0"/>
          </a:p>
        </p:txBody>
      </p:sp>
      <p:sp>
        <p:nvSpPr>
          <p:cNvPr id="3" name="Content Placeholder 2"/>
          <p:cNvSpPr>
            <a:spLocks noGrp="1"/>
          </p:cNvSpPr>
          <p:nvPr>
            <p:ph idx="1"/>
          </p:nvPr>
        </p:nvSpPr>
        <p:spPr/>
        <p:txBody>
          <a:bodyPr>
            <a:normAutofit lnSpcReduction="10000"/>
          </a:bodyPr>
          <a:lstStyle/>
          <a:p>
            <a:r>
              <a:rPr lang="en-US" b="1" dirty="0" smtClean="0"/>
              <a:t>Graphical </a:t>
            </a:r>
            <a:r>
              <a:rPr lang="en-US" b="1" dirty="0"/>
              <a:t>Analysis: </a:t>
            </a:r>
            <a:r>
              <a:rPr lang="en-US" dirty="0"/>
              <a:t>Briefly describe the main graphical analyses conducted on the data, including charts, plots, </a:t>
            </a:r>
            <a:r>
              <a:rPr lang="en-US" dirty="0" smtClean="0"/>
              <a:t>or visualizations </a:t>
            </a:r>
            <a:r>
              <a:rPr lang="en-US" dirty="0"/>
              <a:t>used to represent the data visually and derive </a:t>
            </a:r>
            <a:r>
              <a:rPr lang="en-US" dirty="0" smtClean="0"/>
              <a:t>insights.</a:t>
            </a:r>
          </a:p>
          <a:p>
            <a:r>
              <a:rPr lang="en-US" b="1" dirty="0" smtClean="0"/>
              <a:t>Database </a:t>
            </a:r>
            <a:r>
              <a:rPr lang="en-US" b="1" dirty="0"/>
              <a:t>Integration: </a:t>
            </a:r>
            <a:r>
              <a:rPr lang="en-US" dirty="0"/>
              <a:t>Specify whether the dataset was successfully imported into the SQL database and verify if the data is properly stored in the </a:t>
            </a:r>
            <a:r>
              <a:rPr lang="en-US" dirty="0" smtClean="0"/>
              <a:t>tables.</a:t>
            </a:r>
          </a:p>
          <a:p>
            <a:r>
              <a:rPr lang="en-US" b="1" dirty="0" smtClean="0"/>
              <a:t>Power </a:t>
            </a:r>
            <a:r>
              <a:rPr lang="en-US" b="1" dirty="0"/>
              <a:t>BI Integration: </a:t>
            </a:r>
            <a:r>
              <a:rPr lang="en-US" dirty="0"/>
              <a:t>Indicate if the data was imported into Power BI from the SQL database and if the integration was </a:t>
            </a:r>
            <a:r>
              <a:rPr lang="en-US" dirty="0" smtClean="0"/>
              <a:t>successful.</a:t>
            </a:r>
          </a:p>
          <a:p>
            <a:r>
              <a:rPr lang="en-US" b="1" dirty="0" smtClean="0"/>
              <a:t>Data </a:t>
            </a:r>
            <a:r>
              <a:rPr lang="en-US" b="1" dirty="0"/>
              <a:t>Cleaning and Visualization in Power BI: </a:t>
            </a:r>
            <a:r>
              <a:rPr lang="en-US" dirty="0"/>
              <a:t>Mention any data cleaning steps performed in the Power BI Query Editor and describe the interactive visualizations created using Power BI </a:t>
            </a:r>
            <a:r>
              <a:rPr lang="en-US" dirty="0" smtClean="0"/>
              <a:t>tools.</a:t>
            </a:r>
          </a:p>
          <a:p>
            <a:r>
              <a:rPr lang="en-US" b="1" dirty="0" smtClean="0"/>
              <a:t>Detailed </a:t>
            </a:r>
            <a:r>
              <a:rPr lang="en-US" b="1" dirty="0"/>
              <a:t>Interactive Dashboard: </a:t>
            </a:r>
            <a:r>
              <a:rPr lang="en-US" dirty="0"/>
              <a:t>Highlight the creation of a detailed interactive dashboard using visualization tools like Power BI, which provides insights and answers specific questions related to the dataset.</a:t>
            </a:r>
            <a:endParaRPr lang="en-IN" dirty="0"/>
          </a:p>
        </p:txBody>
      </p:sp>
    </p:spTree>
    <p:extLst>
      <p:ext uri="{BB962C8B-B14F-4D97-AF65-F5344CB8AC3E}">
        <p14:creationId xmlns:p14="http://schemas.microsoft.com/office/powerpoint/2010/main" val="100280662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1933</TotalTime>
  <Words>1343</Words>
  <Application>Microsoft Office PowerPoint</Application>
  <PresentationFormat>Widescreen</PresentationFormat>
  <Paragraphs>73</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Arial Black</vt:lpstr>
      <vt:lpstr>Century Gothic</vt:lpstr>
      <vt:lpstr>Garamond</vt:lpstr>
      <vt:lpstr>Savon</vt:lpstr>
      <vt:lpstr>PowerPoint Presentation</vt:lpstr>
      <vt:lpstr>INDEX</vt:lpstr>
      <vt:lpstr>Here in this PPT presentation I am presenting:</vt:lpstr>
      <vt:lpstr>PowerPoint Presentation</vt:lpstr>
      <vt:lpstr>Explore the Data using Excel. Understand the data and prepare a short summary about the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Create a Visually pleasing Dashboard report by following the rules of making the Dashboard. To explore and analyze the Western country data using Excel, you can follow these steps to create a project</vt:lpstr>
      <vt:lpstr>SUMMARY</vt:lpstr>
      <vt:lpstr>Summary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Vishal Pathak HRM</dc:creator>
  <cp:lastModifiedBy>Vishal Pathak HRM</cp:lastModifiedBy>
  <cp:revision>35</cp:revision>
  <dcterms:created xsi:type="dcterms:W3CDTF">2023-08-26T05:18:30Z</dcterms:created>
  <dcterms:modified xsi:type="dcterms:W3CDTF">2023-09-04T07:19:22Z</dcterms:modified>
</cp:coreProperties>
</file>